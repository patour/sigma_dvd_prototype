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1954" r:id="rId3"/>
    <p:sldId id="257" r:id="rId4"/>
    <p:sldId id="258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4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9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the names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2AA94-3FDA-42F8-A489-135748DFB8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53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04AF-EEA0-5116-3697-8483A758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E6F51-8E1E-C0FC-BB50-4A4254BB1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D45A0-BEB0-DF83-F701-0266E5600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F8A49-D8FF-5F1E-F4C6-E9678BE32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91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EB01-2CFD-3270-8DA1-2F808095D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3AA0C-04B2-616E-FE25-23C4C7C49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37DFA-ACF4-B0C5-DF92-C3087918F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54576-74BE-B436-05D4-B302BBB92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83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Relationship Id="rId3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Relationship Id="rId3" Type="http://schemas.openxmlformats.org/officeDocument/2006/relationships/image" Target="../media/image9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Relationship Id="rId3" Type="http://schemas.openxmlformats.org/officeDocument/2006/relationships/image" Target="../media/image9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Relationship Id="rId3" Type="http://schemas.openxmlformats.org/officeDocument/2006/relationships/image" Target="../media/image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Relationship Id="rId3" Type="http://schemas.openxmlformats.org/officeDocument/2006/relationships/image" Target="../media/image9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svg"/><Relationship Id="rId3" Type="http://schemas.openxmlformats.org/officeDocument/2006/relationships/image" Target="../media/image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9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Relationship Id="rId3" Type="http://schemas.openxmlformats.org/officeDocument/2006/relationships/image" Target="../media/image9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Relationship Id="rId3" Type="http://schemas.openxmlformats.org/officeDocument/2006/relationships/image" Target="../media/image9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14"/>
            <a:ext cx="12192000" cy="6854572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87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M3 lines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7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AA220E05-4C1E-4F58-BFC0-57C07A95F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extra long headlines</a:t>
            </a:r>
            <a:br>
              <a:rPr lang="en-US"/>
            </a:br>
            <a:r>
              <a:rPr lang="en-US"/>
              <a:t>4 lines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020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57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44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 </a:t>
            </a:r>
            <a:br>
              <a:rPr lang="en-US"/>
            </a:br>
            <a:r>
              <a:rPr lang="en-US"/>
              <a:t>36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36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33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92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3 lines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45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extra long headlines</a:t>
            </a:r>
            <a:br>
              <a:rPr lang="en-US"/>
            </a:br>
            <a:r>
              <a:rPr lang="en-US"/>
              <a:t>4 lines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15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42783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48874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40842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95504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91534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9784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66396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1207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8919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vert="horz" lIns="216000" tIns="144000" rIns="216000" bIns="144000" rtlCol="0">
            <a:noAutofit/>
          </a:bodyPr>
          <a:lstStyle>
            <a:lvl1pPr>
              <a:defRPr lang="en-US" dirty="0">
                <a:ln>
                  <a:noFill/>
                </a:ln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 lang="en-US" dirty="0">
                <a:ln>
                  <a:noFill/>
                </a:ln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Restricted | © Siemens 2025 | 09-2025 | Siemens Digital Industries Software | Where today meets tomorrow.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2" name="Title">
            <a:extLst>
              <a:ext uri="{FF2B5EF4-FFF2-40B4-BE49-F238E27FC236}">
                <a16:creationId xmlns:a16="http://schemas.microsoft.com/office/drawing/2014/main" id="{9ADC0F91-444B-0C47-804B-CA575449F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Siemens Logo">
            <a:extLst>
              <a:ext uri="{FF2B5EF4-FFF2-40B4-BE49-F238E27FC236}">
                <a16:creationId xmlns:a16="http://schemas.microsoft.com/office/drawing/2014/main" id="{FC186129-E58C-8C48-B968-215E23174E7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7588" y="65712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10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61995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49072"/>
      </p:ext>
    </p:extLst>
  </p:cSld>
  <p:clrMapOvr>
    <a:masterClrMapping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lang="en-US" sz="8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Tx/>
              <a:buNone/>
              <a:defRPr sz="1400" b="1">
                <a:solidFill>
                  <a:schemeClr val="bg1"/>
                </a:solidFill>
              </a:defRPr>
            </a:lvl2pPr>
            <a:lvl3pPr marL="180000" indent="-180000" algn="l">
              <a:spcAft>
                <a:spcPts val="0"/>
              </a:spcAft>
              <a:buFontTx/>
              <a:buNone/>
              <a:defRPr sz="1400" b="0"/>
            </a:lvl3pPr>
            <a:lvl4pPr marL="360000" indent="-180000" algn="l">
              <a:spcAft>
                <a:spcPts val="0"/>
              </a:spcAft>
              <a:buFontTx/>
              <a:buNone/>
              <a:defRPr sz="1400"/>
            </a:lvl4pPr>
            <a:lvl5pPr marL="360000" indent="-180000" algn="l">
              <a:spcAft>
                <a:spcPts val="0"/>
              </a:spcAft>
              <a:buFontTx/>
              <a:buNone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/>
              <a:t>Click to edit the agenda</a:t>
            </a:r>
            <a:br>
              <a:rPr lang="en-US"/>
            </a:br>
            <a:r>
              <a:rPr lang="en-US"/>
              <a:t>Item 2</a:t>
            </a:r>
          </a:p>
          <a:p>
            <a:pPr lvl="0"/>
            <a:r>
              <a:rPr lang="en-US"/>
              <a:t>Item 3</a:t>
            </a:r>
          </a:p>
          <a:p>
            <a:pPr lvl="1"/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Restricted | © Siemens 2025 | 09-2025 | Siemens Digital Industries Software | Where today meets tomorrow.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Siemens Logo">
            <a:extLst>
              <a:ext uri="{FF2B5EF4-FFF2-40B4-BE49-F238E27FC236}">
                <a16:creationId xmlns:a16="http://schemas.microsoft.com/office/drawing/2014/main" id="{ECEAA6E3-1B84-5F4F-AA15-65CC04A1F3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4472" y="6419088"/>
            <a:ext cx="1152144" cy="18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92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lang="en-US" sz="1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2pPr>
            <a:lvl3pPr marL="180000" indent="-180000" algn="l">
              <a:spcAft>
                <a:spcPts val="0"/>
              </a:spcAft>
              <a:buFontTx/>
              <a:buNone/>
              <a:defRPr sz="1600" b="0">
                <a:solidFill>
                  <a:schemeClr val="bg1"/>
                </a:solidFill>
              </a:defRPr>
            </a:lvl3pPr>
            <a:lvl4pPr marL="360000" indent="-180000" algn="l"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</a:defRPr>
            </a:lvl4pPr>
            <a:lvl5pPr marL="360000" indent="-180000" algn="l">
              <a:spcAft>
                <a:spcPts val="0"/>
              </a:spcAft>
              <a:buFontTx/>
              <a:buNone/>
              <a:defRPr sz="1400" b="1">
                <a:solidFill>
                  <a:schemeClr val="bg1"/>
                </a:solidFill>
              </a:defRPr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marL="0" lvl="1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/>
              <a:t>Click to edit the contact</a:t>
            </a:r>
          </a:p>
          <a:p>
            <a:pPr lvl="1"/>
            <a:r>
              <a:rPr lang="en-US"/>
              <a:t>Name</a:t>
            </a:r>
          </a:p>
          <a:p>
            <a:pPr lvl="2"/>
            <a:r>
              <a:rPr lang="en-US"/>
              <a:t>Department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Restricted | © Siemens 2025 | 09-2025 | Siemens Digital Industries Software | Where today meets tomorrow.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CAF3A8F5-231C-C244-A601-14611686B1C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9088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92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Text Placeholder">
            <a:extLst>
              <a:ext uri="{FF2B5EF4-FFF2-40B4-BE49-F238E27FC236}">
                <a16:creationId xmlns:a16="http://schemas.microsoft.com/office/drawing/2014/main" id="{13F8FAA1-41CC-9442-B80B-A707DBE2FE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161" y="1414800"/>
            <a:ext cx="9863236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2880" marR="0" indent="-18288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marR="0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1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60000" marR="0" lvl="2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540000" marR="0" lvl="3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720000" marR="0" lvl="4" indent="-1800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0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" y="1193800"/>
            <a:ext cx="12192000" cy="5035296"/>
          </a:xfrm>
        </p:spPr>
        <p:txBody>
          <a:bodyPr/>
          <a:lstStyle>
            <a:lvl1pPr marL="347472" indent="-347472">
              <a:spcBef>
                <a:spcPts val="850"/>
              </a:spcBef>
              <a:buClr>
                <a:srgbClr val="3769AC"/>
              </a:buClr>
              <a:defRPr/>
            </a:lvl1pPr>
            <a:lvl4pPr>
              <a:defRPr/>
            </a:lvl4pPr>
            <a:lvl5pPr marL="1597025" indent="-153988">
              <a:buFont typeface="Arial" pitchFamily="34" charset="0"/>
              <a:buChar char="•"/>
              <a:defRPr sz="18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EE6C0D-8D49-4EF2-B5AB-91C9339EB8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96511"/>
      </p:ext>
    </p:extLst>
  </p:cSld>
  <p:clrMapOvr>
    <a:masterClrMapping/>
  </p:clrMapOvr>
  <p:transition>
    <p:fade/>
  </p:transition>
  <p:hf sldNum="0"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6.xml"/><Relationship Id="rId2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0" y="1414800"/>
            <a:ext cx="11144099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2025 | 09-2025 | Siemens Digital Industries Software | Where today meets tomorrow.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93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87338" indent="-287338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77813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sv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sv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sv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sv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sv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sv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sv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21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sv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A865AB3-8AE0-4AB0-94C2-2E517EC1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4"/>
            <a:ext cx="11376788" cy="1323439"/>
          </a:xfrm>
        </p:spPr>
        <p:txBody>
          <a:bodyPr/>
          <a:lstStyle/>
          <a:p>
            <a:r>
              <a:rPr lang="en-US" sz="5400" b="0" dirty="0"/>
              <a:t>Advanced </a:t>
            </a:r>
            <a:r>
              <a:rPr lang="en-US" sz="5400" b="0" dirty="0" err="1"/>
              <a:t>Vectorless</a:t>
            </a:r>
            <a:br>
              <a:rPr lang="en-US" sz="5400" b="0" dirty="0"/>
            </a:br>
            <a:r>
              <a:rPr lang="en-US" sz="3200" b="0" dirty="0"/>
              <a:t>Towards Exhaustive DVD Signoff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9F1C4C08-3D5C-4C0E-914A-F70CA07D0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456" y="4478337"/>
            <a:ext cx="10281719" cy="1930398"/>
          </a:xfrm>
        </p:spPr>
        <p:txBody>
          <a:bodyPr vert="horz" lIns="0" tIns="349200" rIns="0" bIns="0" rtlCol="0" anchor="t">
            <a:noAutofit/>
          </a:bodyPr>
          <a:lstStyle/>
          <a:p>
            <a:r>
              <a:rPr lang="en-US" dirty="0"/>
              <a:t>mPower Summit, May 12</a:t>
            </a:r>
            <a:r>
              <a:rPr lang="en-US" baseline="30000" dirty="0"/>
              <a:t>th</a:t>
            </a:r>
            <a:r>
              <a:rPr lang="en-US" dirty="0"/>
              <a:t>, 2026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FDA17C2-CC0D-4A70-A1C4-4DAA44F647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74596"/>
            <a:ext cx="9288000" cy="54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2025 | 09-2025 | Siemens Digital Industries Software | Where today meets tomorrow.</a:t>
            </a:r>
          </a:p>
        </p:txBody>
      </p:sp>
    </p:spTree>
    <p:extLst>
      <p:ext uri="{BB962C8B-B14F-4D97-AF65-F5344CB8AC3E}">
        <p14:creationId xmlns:p14="http://schemas.microsoft.com/office/powerpoint/2010/main" val="3276494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Goal/Motivation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371600"/>
            <a:ext cx="11475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/>
              <a:t>Traditional DVD analysis is only as good as the activity vectors used. But the true worst drop may occur when a rare combination of </a:t>
            </a:r>
            <a:r>
              <a:rPr lang="en-US" sz="2000" b="1" dirty="0"/>
              <a:t>nearby aggressors</a:t>
            </a:r>
            <a:r>
              <a:rPr lang="en-US" sz="2000" dirty="0"/>
              <a:t> switches in the same timing window as a </a:t>
            </a:r>
            <a:r>
              <a:rPr lang="en-US" sz="2000" b="1" dirty="0"/>
              <a:t>victim instance</a:t>
            </a:r>
            <a:r>
              <a:rPr lang="en-US" sz="2000" dirty="0"/>
              <a:t>.</a:t>
            </a:r>
          </a:p>
        </p:txBody>
      </p:sp>
      <p:sp>
        <p:nvSpPr>
          <p:cNvPr id="11" name="Text 8"/>
          <p:cNvSpPr/>
          <p:nvPr/>
        </p:nvSpPr>
        <p:spPr>
          <a:xfrm>
            <a:off x="365760" y="2651760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cs typeface="Arial" pitchFamily="34" charset="-120"/>
              </a:rPr>
              <a:t>Coverage problem: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" y="3108960"/>
            <a:ext cx="11475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2000" dirty="0"/>
              <a:t>There are too many legal switching combinations to simulate exhaustively, while practical vectors cover only a small fraction of realistic scenarios.</a:t>
            </a:r>
          </a:p>
        </p:txBody>
      </p:sp>
      <p:sp>
        <p:nvSpPr>
          <p:cNvPr id="13" name="Text 10"/>
          <p:cNvSpPr/>
          <p:nvPr/>
        </p:nvSpPr>
        <p:spPr>
          <a:xfrm>
            <a:off x="365760" y="4206240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65760" y="4663440"/>
            <a:ext cx="11475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2000" dirty="0"/>
              <a:t>Find the </a:t>
            </a:r>
            <a:r>
              <a:rPr lang="en-US" sz="2000" b="1" dirty="0"/>
              <a:t>worst realistic voltage drop per victim instance</a:t>
            </a:r>
            <a:r>
              <a:rPr lang="en-US" sz="2000" dirty="0"/>
              <a:t> by searching timing-feasible local switching combinations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Worst-case IR-drop is a constrained switching problem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drop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" y="15087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instances switching in the same neighborhood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currents overlap in time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is bounded by per-instance timing windows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550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hard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55080" y="15087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instances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with a window, not a fixed time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legal combinations is impractical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5760" y="4114800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65760" y="4526280"/>
            <a:ext cx="11475720" cy="1280160"/>
          </a:xfrm>
          <a:prstGeom prst="rect">
            <a:avLst/>
          </a:prstGeom>
          <a:solidFill>
            <a:srgbClr val="F3F3F0"/>
          </a:solidFill>
          <a:ln w="1905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4526280"/>
            <a:ext cx="11109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victim impact is local. Distant switching contributes a smoother low-frequency background.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Decomposition: near + far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exx/workspace/sdvd/sigma_dvd_prototype/docs/ir_drop_decomp_near_plus_f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488" y="1051560"/>
            <a:ext cx="5760720" cy="3840480"/>
          </a:xfrm>
          <a:prstGeom prst="rect">
            <a:avLst/>
          </a:prstGeom>
        </p:spPr>
      </p:pic>
      <p:pic>
        <p:nvPicPr>
          <p:cNvPr id="10" name="Image 2" descr="/home/exx/workspace/sdvd/sigma_dvd_prototype/docs/pptx_build/assets/eq_decomp_far_n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438" y="5130546"/>
            <a:ext cx="4436364" cy="3134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" y="5760720"/>
            <a:ext cx="11475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(VCD-driven): fixed context, smoothed by the M8–M10 low-pass stack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(optimized): victim + nearby aggressors, switching times within timing windows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C8683-6067-D4BA-65BF-F2BB9588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C8AAEA-FEE9-AB09-6B79-6F0FF459F6F7}"/>
              </a:ext>
            </a:extLst>
          </p:cNvPr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Decomposition: near + far - Minion 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F97A0E-E177-C1D1-74DB-69D566A6E9C7}"/>
              </a:ext>
            </a:extLst>
          </p:cNvPr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>
            <a:extLst>
              <a:ext uri="{FF2B5EF4-FFF2-40B4-BE49-F238E27FC236}">
                <a16:creationId xmlns:a16="http://schemas.microsoft.com/office/drawing/2014/main" id="{226F2598-8A5D-2243-7403-3FBE1DCC7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DFE86745-E648-F349-6C80-009FFE8914CB}"/>
              </a:ext>
            </a:extLst>
          </p:cNvPr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8132272-BC3B-42FA-AE79-1F790D8B7A54}"/>
              </a:ext>
            </a:extLst>
          </p:cNvPr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D8A80F-24D6-29B4-5D15-4CBA6D8E5ECA}"/>
              </a:ext>
            </a:extLst>
          </p:cNvPr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3E90F64-16FD-2244-1150-98E2BB2D3DAC}"/>
              </a:ext>
            </a:extLst>
          </p:cNvPr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AA2517-DD52-2B6D-C2DA-F36B77CCF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79" y="1328468"/>
            <a:ext cx="5139690" cy="46882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46CCD1-70F9-EE72-B83A-5A982E82D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591" y="935300"/>
            <a:ext cx="5534081" cy="27670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E7CA47-02F1-D807-D75A-AE909F5DED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7591" y="3672610"/>
            <a:ext cx="5534081" cy="276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1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" y="1288961"/>
            <a:ext cx="3657600" cy="3401911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6928" y="1527048"/>
            <a:ext cx="548640" cy="548640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34440" y="1527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context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080" y="22402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Full-chip transient with VCD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as fixed background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ΔV_far(t) at every node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096512" y="29260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4282442" y="1283081"/>
            <a:ext cx="3657600" cy="3401911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453128" y="1508760"/>
            <a:ext cx="548640" cy="548640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53128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120640" y="1527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Blame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526280" y="22402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top-K aggressors for each design instance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909560" y="292608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8138160" y="1325880"/>
            <a:ext cx="365760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339328" y="1508760"/>
            <a:ext cx="548640" cy="548640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339328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006840" y="15270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optimization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412480" y="22402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aggressors from blame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switching within timing windows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ΔV_near,opt(t)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75488" y="5648071"/>
            <a:ext cx="11475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Worst-case dynamic IR-drop at the victim:</a:t>
            </a:r>
            <a:endParaRPr lang="en-US" sz="1600" dirty="0"/>
          </a:p>
        </p:txBody>
      </p:sp>
      <p:pic>
        <p:nvPicPr>
          <p:cNvPr id="27" name="Image 1" descr="/home/exx/workspace/sdvd/sigma_dvd_prototype/docs/pptx_build/assets/eq_decomp_far_n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338" y="6236785"/>
            <a:ext cx="4436364" cy="34594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2774F0A-72E3-08D9-F097-A94C43675E0E}"/>
              </a:ext>
            </a:extLst>
          </p:cNvPr>
          <p:cNvSpPr txBox="1"/>
          <p:nvPr/>
        </p:nvSpPr>
        <p:spPr>
          <a:xfrm>
            <a:off x="4160522" y="5090249"/>
            <a:ext cx="390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Input: </a:t>
            </a:r>
            <a:r>
              <a:rPr lang="en-US" dirty="0"/>
              <a:t>activity vectors (VCD/</a:t>
            </a:r>
            <a:r>
              <a:rPr lang="en-US" dirty="0" err="1"/>
              <a:t>Vectorless</a:t>
            </a:r>
            <a:r>
              <a:rPr lang="en-US" dirty="0"/>
              <a:t>)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Blame Question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exx/workspace/sdvd/sigma_dvd_prototype/docs/PDNVictimAgresso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1097280"/>
            <a:ext cx="6217920" cy="4663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IR-drop at victim node v</a:t>
            </a:r>
            <a:endParaRPr lang="en-US" sz="2200" dirty="0"/>
          </a:p>
        </p:txBody>
      </p:sp>
      <p:pic>
        <p:nvPicPr>
          <p:cNvPr id="11" name="Image 2" descr="/home/exx/workspace/sdvd/sigma_dvd_prototype/docs/pptx_build/assets/eq_victim_dro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600200"/>
            <a:ext cx="1436439" cy="2705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0" y="1962219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time T, the victim sees its worst IR-drop.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858000" y="2419419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858000" y="2830899"/>
            <a:ext cx="5029200" cy="868680"/>
          </a:xfrm>
          <a:prstGeom prst="rect">
            <a:avLst/>
          </a:prstGeom>
          <a:solidFill>
            <a:srgbClr val="F3F3F0"/>
          </a:solidFill>
          <a:ln w="1905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995160" y="2830899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switching instances caused it,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how many mV did each contribute?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858000" y="3836739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endParaRPr lang="en-US" sz="2000" dirty="0"/>
          </a:p>
        </p:txBody>
      </p:sp>
      <p:pic>
        <p:nvPicPr>
          <p:cNvPr id="17" name="Image 3" descr="/home/exx/workspace/sdvd/sigma_dvd_prototype/docs/pptx_build/assets/eq_blame_decomposi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4266507"/>
            <a:ext cx="1911512" cy="5436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49016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c_j: contribution from aggressor instance j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c_init: residual initial-condition contribution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top-K: largest positive c_j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IR-drop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143000"/>
            <a:ext cx="11475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system</a:t>
            </a:r>
            <a:endParaRPr lang="en-US" sz="2200" dirty="0"/>
          </a:p>
        </p:txBody>
      </p:sp>
      <p:pic>
        <p:nvPicPr>
          <p:cNvPr id="10" name="Image 1" descr="/home/exx/workspace/sdvd/sigma_dvd_prototype/docs/pptx_build/assets/eq_reduced_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270" y="1645920"/>
            <a:ext cx="5600700" cy="3794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2162556"/>
            <a:ext cx="11475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 V_u  is IR drop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657600" y="2665476"/>
            <a:ext cx="4873752" cy="2286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65760" y="2939796"/>
            <a:ext cx="11475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 variation of parameters</a:t>
            </a:r>
            <a:endParaRPr lang="en-US" sz="2200" dirty="0"/>
          </a:p>
        </p:txBody>
      </p:sp>
      <p:pic>
        <p:nvPicPr>
          <p:cNvPr id="14" name="Image 2" descr="/home/exx/workspace/sdvd/sigma_dvd_prototype/docs/pptx_build/assets/eq_lti_sol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4656" y="3442716"/>
            <a:ext cx="4757928" cy="812292"/>
          </a:xfrm>
          <a:prstGeom prst="rect">
            <a:avLst/>
          </a:prstGeom>
        </p:spPr>
      </p:pic>
      <p:pic>
        <p:nvPicPr>
          <p:cNvPr id="15" name="Image 3" descr="/home/exx/workspace/sdvd/sigma_dvd_prototype/docs/pptx_build/assets/eq_phi_g_d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988" y="4529328"/>
            <a:ext cx="5059264" cy="468284"/>
          </a:xfrm>
          <a:prstGeom prst="rect">
            <a:avLst/>
          </a:prstGeom>
        </p:spPr>
      </p:pic>
      <p:pic>
        <p:nvPicPr>
          <p:cNvPr id="16" name="Image 4" descr="/home/exx/workspace/sdvd/sigma_dvd_prototype/docs/pptx_build/assets/eq_caption_g_d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6709" y="5271932"/>
            <a:ext cx="4733821" cy="2527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Per-instance contribution and sensitivity kernel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188720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Per-source decomposition:</a:t>
            </a:r>
            <a:endParaRPr lang="en-US" sz="1800" dirty="0"/>
          </a:p>
        </p:txBody>
      </p:sp>
      <p:pic>
        <p:nvPicPr>
          <p:cNvPr id="10" name="Image 1" descr="/home/exx/workspace/sdvd/sigma_dvd_prototype/docs/pptx_build/assets/eq_per_source_de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919" y="1600200"/>
            <a:ext cx="4779403" cy="697022"/>
          </a:xfrm>
          <a:prstGeom prst="rect">
            <a:avLst/>
          </a:prstGeom>
        </p:spPr>
      </p:pic>
      <p:pic>
        <p:nvPicPr>
          <p:cNvPr id="11" name="Image 2" descr="/home/exx/workspace/sdvd/sigma_dvd_prototype/docs/pptx_build/assets/eq_cj_f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627" y="2571542"/>
            <a:ext cx="3277985" cy="73844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409763" y="2516678"/>
            <a:ext cx="3387713" cy="848175"/>
          </a:xfrm>
          <a:prstGeom prst="rect">
            <a:avLst/>
          </a:prstGeom>
          <a:ln w="15875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65760" y="3675749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victim sensitivity field, then:</a:t>
            </a:r>
            <a:endParaRPr lang="en-US" sz="1800" dirty="0"/>
          </a:p>
        </p:txBody>
      </p:sp>
      <p:pic>
        <p:nvPicPr>
          <p:cNvPr id="14" name="Image 3" descr="/home/exx/workspace/sdvd/sigma_dvd_prototype/docs/pptx_build/assets/eq_hv_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307" y="4087229"/>
            <a:ext cx="4386626" cy="325443"/>
          </a:xfrm>
          <a:prstGeom prst="rect">
            <a:avLst/>
          </a:prstGeom>
        </p:spPr>
      </p:pic>
      <p:pic>
        <p:nvPicPr>
          <p:cNvPr id="15" name="Image 4" descr="/home/exx/workspace/sdvd/sigma_dvd_prototype/docs/pptx_build/assets/eq_cj_h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9442" y="4686993"/>
            <a:ext cx="3128356" cy="738447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484578" y="4632129"/>
            <a:ext cx="3238084" cy="848175"/>
          </a:xfrm>
          <a:prstGeom prst="rect">
            <a:avLst/>
          </a:prstGeom>
          <a:ln w="15875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5" descr="/home/exx/workspace/sdvd/sigma_dvd_prototype/docs/pptx_build/assets/eq_multi_p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931" y="5699760"/>
            <a:ext cx="3747377" cy="291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188720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Adjoint sensitivity equation:</a:t>
            </a:r>
            <a:endParaRPr lang="en-US" sz="1800" dirty="0"/>
          </a:p>
        </p:txBody>
      </p:sp>
      <p:pic>
        <p:nvPicPr>
          <p:cNvPr id="10" name="Image 1" descr="/home/exx/workspace/sdvd/sigma_dvd_prototype/docs/pptx_build/assets/eq_adjoint_p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565" y="1600200"/>
            <a:ext cx="3228109" cy="3297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2295698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RC:</a:t>
            </a:r>
            <a:endParaRPr lang="en-US" sz="1800" dirty="0"/>
          </a:p>
        </p:txBody>
      </p:sp>
      <p:pic>
        <p:nvPicPr>
          <p:cNvPr id="12" name="Image 2" descr="/home/exx/workspace/sdvd/sigma_dvd_prototype/docs/pptx_build/assets/eq_symmetr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865" y="2707178"/>
            <a:ext cx="2517509" cy="29676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" y="3278263"/>
            <a:ext cx="11475720" cy="594360"/>
          </a:xfrm>
          <a:prstGeom prst="rect">
            <a:avLst/>
          </a:prstGeom>
          <a:solidFill>
            <a:srgbClr val="F3F3F0"/>
          </a:solidFill>
          <a:ln w="1905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48640" y="3278263"/>
            <a:ext cx="11109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 unit current impulse at the victim and observe the response at each aggressor node.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65760" y="4009783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Reciprocity:</a:t>
            </a:r>
            <a:endParaRPr lang="en-US" sz="1800" dirty="0"/>
          </a:p>
        </p:txBody>
      </p:sp>
      <p:pic>
        <p:nvPicPr>
          <p:cNvPr id="16" name="Image 3" descr="/home/exx/workspace/sdvd/sigma_dvd_prototype/docs/pptx_build/assets/eq_reciproc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4421263"/>
            <a:ext cx="1965960" cy="3352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280160" y="5122303"/>
            <a:ext cx="9646920" cy="502920"/>
          </a:xfrm>
          <a:prstGeom prst="rect">
            <a:avLst/>
          </a:prstGeom>
          <a:ln w="1905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1280160" y="5122303"/>
            <a:ext cx="9646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victim-centered response  ⇒  all aggressor sensitivities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kernel: one forward BE transient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11475720" cy="320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matrices (same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forward engine already factors):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692" y="1426464"/>
            <a:ext cx="2377856" cy="3728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1918162"/>
            <a:ext cx="11475720" cy="2834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BE-discretize the kernel equation 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15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′(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+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15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5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·δ(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symmetric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no transposes:</a:t>
            </a:r>
          </a:p>
        </p:txBody>
      </p:sp>
      <p:pic>
        <p:nvPicPr>
          <p:cNvPr id="12" name="Picture 11" descr="eq_be_kernel_fw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0980" y="2247346"/>
            <a:ext cx="4425280" cy="27057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36116" y="2192482"/>
            <a:ext cx="4535008" cy="380307"/>
          </a:xfrm>
          <a:prstGeom prst="rect">
            <a:avLst/>
          </a:prstGeom>
          <a:noFill/>
          <a:ln w="15875">
            <a:solidFill>
              <a:srgbClr val="0099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00805"/>
            <a:ext cx="11475720" cy="2926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5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forward BE transient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11701"/>
            <a:ext cx="11475720" cy="960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from the </a:t>
            </a:r>
            <a:r>
              <a:rPr lang="en-US" sz="14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no-load DC state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all loads off, so every node sits at its pad voltage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(zero IR-drop,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</a:t>
            </a:r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 a </a:t>
            </a:r>
            <a:r>
              <a:rPr lang="en-US" sz="14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current pulse at victim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(width one 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4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at step 0,</a:t>
            </a:r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runs </a:t>
            </a:r>
            <a:r>
              <a:rPr lang="en-US" sz="14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source-free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(free decay).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999253"/>
            <a:ext cx="11475720" cy="4998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400" dirty="0" b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cancellation.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≡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exact steady state of the pulse-free grid, so by superposition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recorded IR-drop 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pure pulse response — no reference-run subtraction:</a:t>
            </a:r>
          </a:p>
        </p:txBody>
      </p:sp>
      <p:pic>
        <p:nvPicPr>
          <p:cNvPr id="17" name="Picture 16" descr="eq_hv_be_pro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2001" y="4544845"/>
            <a:ext cx="2223239" cy="30175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37137" y="4489981"/>
            <a:ext cx="2332967" cy="411480"/>
          </a:xfrm>
          <a:prstGeom prst="rect">
            <a:avLst/>
          </a:prstGeom>
          <a:noFill/>
          <a:ln w="15875">
            <a:solidFill>
              <a:srgbClr val="0099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974613"/>
            <a:ext cx="11475720" cy="2560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3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(unit pulse — for a pulse of amplitude </a:t>
            </a:r>
            <a:r>
              <a:rPr lang="en-US" sz="13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00" dirty="0" baseline="-2500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3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divide by </a:t>
            </a:r>
            <a:r>
              <a:rPr lang="en-US" sz="13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300" dirty="0" baseline="-2500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3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48933"/>
            <a:ext cx="11475720" cy="457200"/>
          </a:xfrm>
          <a:prstGeom prst="rect">
            <a:avLst/>
          </a:prstGeom>
          <a:solidFill>
            <a:srgbClr val="F3F3F0"/>
          </a:solidFill>
          <a:ln w="19050">
            <a:solidFill>
              <a:srgbClr val="0099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48933"/>
            <a:ext cx="11109960" cy="457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/>
            <a:r>
              <a:rPr lang="en-US" sz="14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1400" dirty="0" i="1" baseline="-2500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sz="14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ℓ</a:t>
            </a:r>
            <a:r>
              <a:rPr lang="en-US" sz="1400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r>
              <a:rPr lang="en-US" sz="14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voltage probe of one ordinary transient, </a:t>
            </a:r>
            <a:r>
              <a:rPr lang="en-US" sz="14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ℓ</a:t>
            </a:r>
            <a:r>
              <a:rPr lang="en-US" sz="14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 after the victim pulse. No adjoint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mPower recipe: one transient + a correlation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11475720" cy="320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700" dirty="0" b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existing forward engine.</a:t>
            </a:r>
            <a:r>
              <a:rPr lang="en-US" sz="17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Blame = one special transient run + a post-processing sum.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11475720" cy="320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800" dirty="0" b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kernel run</a:t>
            </a:r>
            <a:r>
              <a:rPr lang="en-US" sz="15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(transient iterations)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48256"/>
            <a:ext cx="11475720" cy="1188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out all instance current sources</a:t>
            </a:r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</a:t>
            </a:r>
            <a:r>
              <a:rPr lang="en-US" sz="15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synthetic load at victim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rectangular pulse, amplitude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5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width one 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5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condition = </a:t>
            </a:r>
            <a:r>
              <a:rPr lang="en-US" sz="15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no-load DC operating point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(all nodes at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5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zero IR-drop)</a:t>
            </a:r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steps (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memory window, a few grid RC constants); probe voltages at </a:t>
            </a:r>
            <a:r>
              <a:rPr lang="en-US" sz="15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aggressor nodes only</a:t>
            </a:r>
          </a:p>
        </p:txBody>
      </p:sp>
      <p:pic>
        <p:nvPicPr>
          <p:cNvPr id="12" name="Picture 11" descr="eq_hv_kernel_pro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383280"/>
            <a:ext cx="2606040" cy="3029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745736" y="3328416"/>
            <a:ext cx="2715768" cy="412727"/>
          </a:xfrm>
          <a:prstGeom prst="rect">
            <a:avLst/>
          </a:prstGeom>
          <a:noFill/>
          <a:ln w="15875">
            <a:solidFill>
              <a:srgbClr val="0099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850871"/>
            <a:ext cx="11475720" cy="320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800" dirty="0" b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blame accumulation</a:t>
            </a:r>
            <a:r>
              <a:rPr lang="en-US" sz="15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(post-processing)</a:t>
            </a:r>
          </a:p>
        </p:txBody>
      </p:sp>
      <p:pic>
        <p:nvPicPr>
          <p:cNvPr id="15" name="Picture 14" descr="eq_blame_accu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4039" y="4271495"/>
            <a:ext cx="2859163" cy="67457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619175" y="4216631"/>
            <a:ext cx="2968891" cy="784306"/>
          </a:xfrm>
          <a:prstGeom prst="rect">
            <a:avLst/>
          </a:prstGeom>
          <a:noFill/>
          <a:ln w="15875">
            <a:solidFill>
              <a:srgbClr val="0099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092377"/>
            <a:ext cx="11475720" cy="320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●"/>
            </a:pPr>
            <a:r>
              <a:rPr lang="en-US" sz="15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Lag-reversed pairing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freshest sample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15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[0]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with the aggressor current at observation time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67281"/>
            <a:ext cx="11475720" cy="2834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5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top-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 Interpretation: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15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ℓ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][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5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= ∂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5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/ ∂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5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ℓ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15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5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5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cost, validation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75720" cy="2926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800" dirty="0" b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Exactness conditions</a:t>
            </a:r>
            <a:r>
              <a:rPr lang="en-US" sz="14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(all hold for an RC PDN)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81328"/>
            <a:ext cx="11475720" cy="304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●"/>
            </a:pPr>
            <a:r>
              <a:rPr lang="en-US" sz="14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Integrator-consistent kernel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BE shown. TR variant: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+ 2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/Δ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4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/Δ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4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same kernel run, but each sample pairs with </a:t>
            </a:r>
            <a:r>
              <a:rPr lang="en-US" sz="14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adjacent current samples:</a:t>
            </a:r>
          </a:p>
        </p:txBody>
      </p:sp>
      <p:pic>
        <p:nvPicPr>
          <p:cNvPr id="11" name="Picture 10" descr="eq_cj_t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8427" y="1804416"/>
            <a:ext cx="4130386" cy="4333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2256005"/>
            <a:ext cx="11155680" cy="2560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300" dirty="0" i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kernels are smoother (no TR ringing).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30325"/>
            <a:ext cx="1147572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4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14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buys reciprocity / self-adjointness</a:t>
            </a:r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4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Pads at constant voltage (Dirichlet)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guarantees exact background cancellation</a:t>
            </a:r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14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4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target analysis; </a:t>
            </a:r>
            <a:r>
              <a:rPr lang="en-US" sz="1400" dirty="0" b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kernel run per victim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72157"/>
            <a:ext cx="5532120" cy="27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600" dirty="0" b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19629"/>
            <a:ext cx="5532120" cy="914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extra 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-step transient per victim, plus 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correlation</a:t>
            </a:r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(probed aggressors × 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for dumped waveforms (or 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streamed)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72157"/>
            <a:ext cx="5532120" cy="27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600" dirty="0" b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819629"/>
            <a:ext cx="5532120" cy="914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aggressors only in 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300" dirty="0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Spatial: keep nodes with 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r>
              <a:rPr lang="en-US" sz="13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ℓ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13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ℓ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][</a:t>
            </a:r>
            <a:r>
              <a:rPr lang="en-US" sz="1300" dirty="0" i="1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300" dirty="0" i="1" baseline="-2500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r>
              <a:rPr lang="en-US" sz="13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]| &gt; 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71901"/>
            <a:ext cx="11475720" cy="2926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/>
            <a:r>
              <a:rPr lang="en-US" sz="1600" dirty="0" b="1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r>
              <a:rPr lang="en-US" sz="14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cross-check against mPower's own forward run:</a:t>
            </a:r>
          </a:p>
        </p:txBody>
      </p:sp>
      <p:pic>
        <p:nvPicPr>
          <p:cNvPr id="19" name="Picture 18" descr="eq_validation_su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2427" y="4837661"/>
            <a:ext cx="1222387" cy="51344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437563" y="4782797"/>
            <a:ext cx="1332115" cy="623177"/>
          </a:xfrm>
          <a:prstGeom prst="rect">
            <a:avLst/>
          </a:prstGeom>
          <a:noFill/>
          <a:ln w="15875">
            <a:solidFill>
              <a:srgbClr val="009999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772FC-F13C-DE6C-4306-4CC55B522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60FDE9-CFD0-9F81-E876-44688DC7B4F5}"/>
              </a:ext>
            </a:extLst>
          </p:cNvPr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Blame Assignment - Minion 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D31EB6-B261-F04E-E6F1-DFAF51B7A75B}"/>
              </a:ext>
            </a:extLst>
          </p:cNvPr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>
            <a:extLst>
              <a:ext uri="{FF2B5EF4-FFF2-40B4-BE49-F238E27FC236}">
                <a16:creationId xmlns:a16="http://schemas.microsoft.com/office/drawing/2014/main" id="{EBE2DB1B-EAD0-B352-E140-F1D12CC516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E44495E5-40D1-6D2F-7A5B-1989A8491EFC}"/>
              </a:ext>
            </a:extLst>
          </p:cNvPr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9CF3919-0390-8FD6-EAB1-120943E594A7}"/>
              </a:ext>
            </a:extLst>
          </p:cNvPr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BF7CB93-624E-ED6A-4DA2-801292137B0B}"/>
              </a:ext>
            </a:extLst>
          </p:cNvPr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1D934AE-CDF2-2B78-7D70-BCC316135FCA}"/>
              </a:ext>
            </a:extLst>
          </p:cNvPr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425F9C-75C4-8612-C170-A0BDDD7AE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50259"/>
            <a:ext cx="6272265" cy="5388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2CFE1E-B5B7-9925-A1A9-D0B27D7BE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957" y="1187740"/>
            <a:ext cx="6131381" cy="475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94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1475720" cy="36576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exx/workspace/sdvd/sigma_dvd_prototype/docs/assets/siemens-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0" y="274320"/>
            <a:ext cx="128016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812280"/>
            <a:ext cx="3047924" cy="45720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047924" y="6812280"/>
            <a:ext cx="3047924" cy="45720"/>
          </a:xfrm>
          <a:prstGeom prst="rect">
            <a:avLst/>
          </a:prstGeom>
          <a:solidFill>
            <a:srgbClr val="00BEDC"/>
          </a:solidFill>
          <a:ln w="12700">
            <a:solidFill>
              <a:srgbClr val="00BE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95848" y="6812280"/>
            <a:ext cx="3047924" cy="45720"/>
          </a:xfrm>
          <a:prstGeom prst="rect">
            <a:avLst/>
          </a:prstGeom>
          <a:solidFill>
            <a:srgbClr val="0087BE"/>
          </a:solidFill>
          <a:ln w="12700">
            <a:solidFill>
              <a:srgbClr val="0087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3771" y="6812280"/>
            <a:ext cx="3047924" cy="45720"/>
          </a:xfrm>
          <a:prstGeom prst="rect">
            <a:avLst/>
          </a:prstGeom>
          <a:solidFill>
            <a:srgbClr val="00557C"/>
          </a:solidFill>
          <a:ln w="12700">
            <a:solidFill>
              <a:srgbClr val="005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280160"/>
            <a:ext cx="11475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today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" y="1737360"/>
            <a:ext cx="11475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Decomposition: ΔV_v = ΔV_far,VCD + ΔV_near,opt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Per-instance blame at a chosen victim from a single backward sweep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3017520"/>
            <a:ext cx="11475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 — Step 3 of the optimization flow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65760" y="3520440"/>
            <a:ext cx="11475720" cy="1371600"/>
          </a:xfrm>
          <a:prstGeom prst="rect">
            <a:avLst/>
          </a:prstGeom>
          <a:solidFill>
            <a:srgbClr val="F3F3F0"/>
          </a:solidFill>
          <a:ln w="19050">
            <a:solidFill>
              <a:srgbClr val="00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3520440"/>
            <a:ext cx="11109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the top-K aggressor set A from blame, optimize switching times {t_j ∈ W_j}_{j ∈ A} to maximize ΔV_v(T) subject to per-instance timing-window constraints.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New Design Template - Light" id="{8154AA7A-7F1A-407F-A5CB-49F80951B3EB}" vid="{4D2EBBC1-9CDF-4912-950E-3660D1B5FE5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635</Words>
  <Application>Microsoft Office PowerPoint</Application>
  <PresentationFormat>Widescreen</PresentationFormat>
  <Paragraphs>106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1_Siemens 2020</vt:lpstr>
      <vt:lpstr>Advanced Vectorless Towards Exhaustive DVD Signoff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Vectorless</dc:title>
  <dc:subject>PptxGenJS Presentation</dc:subject>
  <dc:creator>PptxGenJS</dc:creator>
  <cp:lastModifiedBy>Rasetarinera Rabarison, Patrick (DI SW EDA IC DDCP AN R&amp;D PI)</cp:lastModifiedBy>
  <cp:revision>8</cp:revision>
  <dcterms:created xsi:type="dcterms:W3CDTF">2026-05-10T07:18:11Z</dcterms:created>
  <dcterms:modified xsi:type="dcterms:W3CDTF">2026-05-13T06:12:21Z</dcterms:modified>
</cp:coreProperties>
</file>