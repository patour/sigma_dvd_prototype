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2834640"/>
            <a:ext cx="1371600" cy="9144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301752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Vectorless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365760" y="41605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Worst-case dynamic IR-drop via decomposition + per-instance blame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65760" y="53035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PDN Analysis Team</a:t>
            </a:r>
            <a:pPr indent="0" marL="0">
              <a:buNone/>
            </a:pPr>
            <a:r>
              <a:rPr lang="en-US" sz="1600" dirty="0">
                <a:solidFill>
                  <a:srgbClr val="00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16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and approach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pic>
        <p:nvPicPr>
          <p:cNvPr id="4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18872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65760" y="1645920"/>
            <a:ext cx="11475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High-coverage, vector-independent simulation providing 100% power grid noise coverage for all design instances.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65760" y="265176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65760" y="3108960"/>
            <a:ext cx="11475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 IR-drop: existing vector (VCD or generated vectorless)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 IR-drop: statistical worst case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65760" y="420624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coverage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65760" y="4663440"/>
            <a:ext cx="11475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worst-case potential aggressor cells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Calculates voltage drops without additional transient simulations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Worst-case IR-drop is a constrained switching problem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pic>
        <p:nvPicPr>
          <p:cNvPr id="4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drives the drop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65760" y="150876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instances switching in the same neighborhood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Switching currents overlap in time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 is bounded by per-instance timing windows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35508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 it hard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355080" y="150876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Millions of instances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with a window, not a fixed time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Enumerating legal combinations is impractical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observation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65760" y="4526280"/>
            <a:ext cx="11475720" cy="1280160"/>
          </a:xfrm>
          <a:prstGeom prst="rect">
            <a:avLst/>
          </a:prstGeom>
          <a:solidFill>
            <a:srgbClr val="F3F3F0"/>
          </a:solidFill>
          <a:ln w="19050">
            <a:solidFill>
              <a:srgbClr val="00999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4526280"/>
            <a:ext cx="11109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High-frequency victim impact is local. Distant switching contributes a smoother low-frequency background.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Decomposition: near + far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pic>
        <p:nvPicPr>
          <p:cNvPr id="4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pic>
        <p:nvPicPr>
          <p:cNvPr id="9" name="Image 1" descr="/home/exx/workspace/sdvd/sigma_dvd_prototype/docs/ir_drop_decomp_near_plus_f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88" y="1051560"/>
            <a:ext cx="5760720" cy="3840480"/>
          </a:xfrm>
          <a:prstGeom prst="rect">
            <a:avLst/>
          </a:prstGeom>
        </p:spPr>
      </p:pic>
      <p:pic>
        <p:nvPicPr>
          <p:cNvPr id="10" name="Image 2" descr="/home/exx/workspace/sdvd/sigma_dvd_prototype/docs/pptx_build/assets/eq_decomp_far_ne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5438" y="5130546"/>
            <a:ext cx="4436364" cy="3459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65760" y="5760720"/>
            <a:ext cx="11475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 (VCD-driven): fixed context, smoothed by the M8–M10 low-pass stack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 (optimized): victim + nearby aggressors, switching times within timing windows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overview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pic>
        <p:nvPicPr>
          <p:cNvPr id="4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325880"/>
            <a:ext cx="36576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" y="1508760"/>
            <a:ext cx="548640" cy="548640"/>
          </a:xfrm>
          <a:prstGeom prst="ellipse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234440" y="15270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 context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2240280"/>
            <a:ext cx="3108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Full-chip transient with VCD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Treated as fixed background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Yields ΔV_far(t) at every node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023360" y="292608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Shape 12"/>
          <p:cNvSpPr/>
          <p:nvPr/>
        </p:nvSpPr>
        <p:spPr>
          <a:xfrm>
            <a:off x="4251960" y="1325880"/>
            <a:ext cx="36576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53128" y="1508760"/>
            <a:ext cx="548640" cy="548640"/>
          </a:xfrm>
          <a:prstGeom prst="ellipse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53128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5120640" y="15270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Blame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526280" y="2240280"/>
            <a:ext cx="3108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top-K aggressors for each design instance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909560" y="292608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21" name="Shape 18"/>
          <p:cNvSpPr/>
          <p:nvPr/>
        </p:nvSpPr>
        <p:spPr>
          <a:xfrm>
            <a:off x="8138160" y="1325880"/>
            <a:ext cx="36576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339328" y="1508760"/>
            <a:ext cx="548640" cy="548640"/>
          </a:xfrm>
          <a:prstGeom prst="ellipse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39328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9006840" y="15270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 optimization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8412480" y="2240280"/>
            <a:ext cx="3108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 aggressors from blame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switching within timing windows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Yields ΔV_near,opt(t)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65760" y="5532120"/>
            <a:ext cx="11475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Worst-case dynamic IR-drop at the victim:</a:t>
            </a:r>
            <a:endParaRPr lang="en-US" sz="1600" dirty="0"/>
          </a:p>
        </p:txBody>
      </p:sp>
      <p:pic>
        <p:nvPicPr>
          <p:cNvPr id="27" name="Image 1" descr="/home/exx/workspace/sdvd/sigma_dvd_prototype/docs/pptx_build/assets/eq_decomp_far_ne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438" y="5999226"/>
            <a:ext cx="4436364" cy="3459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Blame Question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pic>
        <p:nvPicPr>
          <p:cNvPr id="4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pic>
        <p:nvPicPr>
          <p:cNvPr id="9" name="Image 1" descr="/home/exx/workspace/sdvd/sigma_dvd_prototype/docs/PDNVictimAgressor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5760" y="1097280"/>
            <a:ext cx="6217920" cy="46634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58000" y="10972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IR-drop at victim node v</a:t>
            </a:r>
            <a:endParaRPr lang="en-US" sz="2200" dirty="0"/>
          </a:p>
        </p:txBody>
      </p:sp>
      <p:pic>
        <p:nvPicPr>
          <p:cNvPr id="11" name="Image 2" descr="/home/exx/workspace/sdvd/sigma_dvd_prototype/docs/pptx_build/assets/eq_victim_dro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00200"/>
            <a:ext cx="1436439" cy="27057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858000" y="1962219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time T, the victim sees its worst IR-drop.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6858000" y="2419419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Question: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6858000" y="2830899"/>
            <a:ext cx="5029200" cy="868680"/>
          </a:xfrm>
          <a:prstGeom prst="rect">
            <a:avLst/>
          </a:prstGeom>
          <a:solidFill>
            <a:srgbClr val="F3F3F0"/>
          </a:solidFill>
          <a:ln w="19050">
            <a:solidFill>
              <a:srgbClr val="009999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995160" y="2830899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switching instances caused it,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how many mV did each contribute?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6858000" y="3836739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</a:t>
            </a:r>
            <a:endParaRPr lang="en-US" sz="2000" dirty="0"/>
          </a:p>
        </p:txBody>
      </p:sp>
      <p:pic>
        <p:nvPicPr>
          <p:cNvPr id="17" name="Image 3" descr="/home/exx/workspace/sdvd/sigma_dvd_prototype/docs/pptx_build/assets/eq_blame_decompositi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266507"/>
            <a:ext cx="1911512" cy="5436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58000" y="490160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c_j: contribution from aggressor instance j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c_init: residual initial-condition contribution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top-K: largest positive c_j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IR-drop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pic>
        <p:nvPicPr>
          <p:cNvPr id="4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143000"/>
            <a:ext cx="11475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system</a:t>
            </a:r>
            <a:endParaRPr lang="en-US" sz="2200" dirty="0"/>
          </a:p>
        </p:txBody>
      </p:sp>
      <p:pic>
        <p:nvPicPr>
          <p:cNvPr id="10" name="Image 1" descr="/home/exx/workspace/sdvd/sigma_dvd_prototype/docs/pptx_build/assets/eq_reduced_syste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270" y="1645920"/>
            <a:ext cx="5600700" cy="3794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5760" y="2162556"/>
            <a:ext cx="11475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 V_u  is IR drop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657600" y="2665476"/>
            <a:ext cx="4873752" cy="2286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65760" y="2939796"/>
            <a:ext cx="11475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LTI variation of parameters</a:t>
            </a:r>
            <a:endParaRPr lang="en-US" sz="2200" dirty="0"/>
          </a:p>
        </p:txBody>
      </p:sp>
      <p:pic>
        <p:nvPicPr>
          <p:cNvPr id="14" name="Image 2" descr="/home/exx/workspace/sdvd/sigma_dvd_prototype/docs/pptx_build/assets/eq_lti_solu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656" y="3442716"/>
            <a:ext cx="4757928" cy="812292"/>
          </a:xfrm>
          <a:prstGeom prst="rect">
            <a:avLst/>
          </a:prstGeom>
        </p:spPr>
      </p:pic>
      <p:pic>
        <p:nvPicPr>
          <p:cNvPr id="15" name="Image 3" descr="/home/exx/workspace/sdvd/sigma_dvd_prototype/docs/pptx_build/assets/eq_phi_g_de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988" y="4529328"/>
            <a:ext cx="5059264" cy="468284"/>
          </a:xfrm>
          <a:prstGeom prst="rect">
            <a:avLst/>
          </a:prstGeom>
        </p:spPr>
      </p:pic>
      <p:pic>
        <p:nvPicPr>
          <p:cNvPr id="16" name="Image 4" descr="/home/exx/workspace/sdvd/sigma_dvd_prototype/docs/pptx_build/assets/eq_caption_g_de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6709" y="5271932"/>
            <a:ext cx="4733821" cy="2527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Per-instance contribution and sensitivity kernel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pic>
        <p:nvPicPr>
          <p:cNvPr id="4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18872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Per-source decomposition:</a:t>
            </a:r>
            <a:endParaRPr lang="en-US" sz="1800" dirty="0"/>
          </a:p>
        </p:txBody>
      </p:sp>
      <p:pic>
        <p:nvPicPr>
          <p:cNvPr id="10" name="Image 1" descr="/home/exx/workspace/sdvd/sigma_dvd_prototype/docs/pptx_build/assets/eq_per_source_decom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919" y="1600200"/>
            <a:ext cx="4779403" cy="697022"/>
          </a:xfrm>
          <a:prstGeom prst="rect">
            <a:avLst/>
          </a:prstGeom>
        </p:spPr>
      </p:pic>
      <p:pic>
        <p:nvPicPr>
          <p:cNvPr id="11" name="Image 2" descr="/home/exx/workspace/sdvd/sigma_dvd_prototype/docs/pptx_build/assets/eq_cj_fu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4627" y="2571542"/>
            <a:ext cx="3277985" cy="738447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409763" y="2516678"/>
            <a:ext cx="3387713" cy="848175"/>
          </a:xfrm>
          <a:prstGeom prst="rect">
            <a:avLst/>
          </a:prstGeom>
          <a:ln w="15875">
            <a:solidFill>
              <a:srgbClr val="009999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365760" y="3675749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victim sensitivity field, then:</a:t>
            </a:r>
            <a:endParaRPr lang="en-US" sz="1800" dirty="0"/>
          </a:p>
        </p:txBody>
      </p:sp>
      <p:pic>
        <p:nvPicPr>
          <p:cNvPr id="14" name="Image 3" descr="/home/exx/workspace/sdvd/sigma_dvd_prototype/docs/pptx_build/assets/eq_hv_ch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0307" y="4087229"/>
            <a:ext cx="4386626" cy="325443"/>
          </a:xfrm>
          <a:prstGeom prst="rect">
            <a:avLst/>
          </a:prstGeom>
        </p:spPr>
      </p:pic>
      <p:pic>
        <p:nvPicPr>
          <p:cNvPr id="15" name="Image 4" descr="/home/exx/workspace/sdvd/sigma_dvd_prototype/docs/pptx_build/assets/eq_cj_hv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442" y="4686993"/>
            <a:ext cx="3128356" cy="738447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4484578" y="4632129"/>
            <a:ext cx="3238084" cy="848175"/>
          </a:xfrm>
          <a:prstGeom prst="rect">
            <a:avLst/>
          </a:prstGeom>
          <a:ln w="15875">
            <a:solidFill>
              <a:srgbClr val="009999"/>
            </a:solidFill>
            <a:prstDash val="solid"/>
          </a:ln>
        </p:spPr>
      </p:sp>
      <p:pic>
        <p:nvPicPr>
          <p:cNvPr id="17" name="Image 5" descr="/home/exx/workspace/sdvd/sigma_dvd_prototype/docs/pptx_build/assets/eq_multi_pi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931" y="5699760"/>
            <a:ext cx="3747377" cy="291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pic>
        <p:nvPicPr>
          <p:cNvPr id="4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18872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Adjoint sensitivity equation:</a:t>
            </a:r>
            <a:endParaRPr lang="en-US" sz="1800" dirty="0"/>
          </a:p>
        </p:txBody>
      </p:sp>
      <p:pic>
        <p:nvPicPr>
          <p:cNvPr id="10" name="Image 1" descr="/home/exx/workspace/sdvd/sigma_dvd_prototype/docs/pptx_build/assets/eq_adjoint_p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565" y="1600200"/>
            <a:ext cx="3228109" cy="3297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5760" y="2295698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Symmetric RC:</a:t>
            </a:r>
            <a:endParaRPr lang="en-US" sz="1800" dirty="0"/>
          </a:p>
        </p:txBody>
      </p:sp>
      <p:pic>
        <p:nvPicPr>
          <p:cNvPr id="12" name="Image 2" descr="/home/exx/workspace/sdvd/sigma_dvd_prototype/docs/pptx_build/assets/eq_symmetri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865" y="2707178"/>
            <a:ext cx="2517509" cy="296764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65760" y="3278263"/>
            <a:ext cx="11475720" cy="594360"/>
          </a:xfrm>
          <a:prstGeom prst="rect">
            <a:avLst/>
          </a:prstGeom>
          <a:solidFill>
            <a:srgbClr val="F3F3F0"/>
          </a:solidFill>
          <a:ln w="19050">
            <a:solidFill>
              <a:srgbClr val="009999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48640" y="3278263"/>
            <a:ext cx="11109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 a unit current impulse at the victim and observe the response at each aggressor node.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365760" y="4009783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Reciprocity:</a:t>
            </a:r>
            <a:endParaRPr lang="en-US" sz="1800" dirty="0"/>
          </a:p>
        </p:txBody>
      </p:sp>
      <p:pic>
        <p:nvPicPr>
          <p:cNvPr id="16" name="Image 3" descr="/home/exx/workspace/sdvd/sigma_dvd_prototype/docs/pptx_build/assets/eq_reciproc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4421263"/>
            <a:ext cx="1965960" cy="33528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80160" y="5122303"/>
            <a:ext cx="9646920" cy="502920"/>
          </a:xfrm>
          <a:prstGeom prst="rect">
            <a:avLst/>
          </a:prstGeom>
          <a:ln w="19050">
            <a:solidFill>
              <a:srgbClr val="009999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1280160" y="5122303"/>
            <a:ext cx="9646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victim-centered response  ⇒  all aggressor sensitivities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kernel (Backward Euler)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pic>
        <p:nvPicPr>
          <p:cNvPr id="4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18872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matrices:</a:t>
            </a:r>
            <a:endParaRPr lang="en-US" sz="1800" dirty="0"/>
          </a:p>
        </p:txBody>
      </p:sp>
      <p:pic>
        <p:nvPicPr>
          <p:cNvPr id="10" name="Image 1" descr="/home/exx/workspace/sdvd/sigma_dvd_prototype/docs/pptx_build/assets/eq_be_matr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589" y="1600200"/>
            <a:ext cx="2642062" cy="41425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5760" y="2380211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sensitivity in lag ℓ:</a:t>
            </a:r>
            <a:endParaRPr lang="en-US" sz="1800" dirty="0"/>
          </a:p>
        </p:txBody>
      </p:sp>
      <p:pic>
        <p:nvPicPr>
          <p:cNvPr id="12" name="Image 2" descr="/home/exx/workspace/sdvd/sigma_dvd_prototype/docs/pptx_build/assets/eq_be_ker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900" y="2791691"/>
            <a:ext cx="4461441" cy="29925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65760" y="3502429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Reindex to forward time k with ℓ = N − 1 − k:</a:t>
            </a:r>
            <a:endParaRPr lang="en-US" sz="1800" dirty="0"/>
          </a:p>
        </p:txBody>
      </p:sp>
      <p:pic>
        <p:nvPicPr>
          <p:cNvPr id="14" name="Image 3" descr="/home/exx/workspace/sdvd/sigma_dvd_prototype/docs/pptx_build/assets/eq_lambda_de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8136" y="3913909"/>
            <a:ext cx="2410968" cy="365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843272" y="3859045"/>
            <a:ext cx="2520696" cy="475488"/>
          </a:xfrm>
          <a:prstGeom prst="rect">
            <a:avLst/>
          </a:prstGeom>
          <a:ln w="15875">
            <a:solidFill>
              <a:srgbClr val="009999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65760" y="4691149"/>
            <a:ext cx="11475720" cy="685800"/>
          </a:xfrm>
          <a:prstGeom prst="rect">
            <a:avLst/>
          </a:prstGeom>
          <a:solidFill>
            <a:srgbClr val="F3F3F0"/>
          </a:solidFill>
          <a:ln w="19050">
            <a:solidFill>
              <a:srgbClr val="009999"/>
            </a:solidFill>
            <a:prstDash val="solid"/>
          </a:ln>
        </p:spPr>
      </p:sp>
      <p:pic>
        <p:nvPicPr>
          <p:cNvPr id="17" name="Image 4" descr="/home/exx/workspace/sdvd/sigma_dvd_prototype/docs/pptx_build/assets/eq_lambda_kernel_qu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2186" y="4904371"/>
            <a:ext cx="5902868" cy="2593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sweep and accumulation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pic>
        <p:nvPicPr>
          <p:cNvPr id="4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18872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 and sweep:</a:t>
            </a:r>
            <a:endParaRPr lang="en-US" sz="1800" dirty="0"/>
          </a:p>
        </p:txBody>
      </p:sp>
      <p:pic>
        <p:nvPicPr>
          <p:cNvPr id="10" name="Image 1" descr="/home/exx/workspace/sdvd/sigma_dvd_prototype/docs/pptx_build/assets/eq_swee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9313" y="1600200"/>
            <a:ext cx="3808615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5760" y="2103120"/>
            <a:ext cx="11475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(k = N − 2, …, 0)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65760" y="246888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Per-aggressor accumulation:</a:t>
            </a:r>
            <a:endParaRPr lang="en-US" sz="1800" dirty="0"/>
          </a:p>
        </p:txBody>
      </p:sp>
      <p:pic>
        <p:nvPicPr>
          <p:cNvPr id="13" name="Image 2" descr="/home/exx/workspace/sdvd/sigma_dvd_prototype/docs/pptx_build/assets/eq_cj_discre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9096" y="2880360"/>
            <a:ext cx="2289048" cy="824484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904232" y="2825496"/>
            <a:ext cx="2398776" cy="934212"/>
          </a:xfrm>
          <a:prstGeom prst="rect">
            <a:avLst/>
          </a:prstGeom>
          <a:ln w="15875">
            <a:solidFill>
              <a:srgbClr val="009999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365760" y="4070604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Interpretation:</a:t>
            </a:r>
            <a:endParaRPr lang="en-US" sz="1800" dirty="0"/>
          </a:p>
        </p:txBody>
      </p:sp>
      <p:pic>
        <p:nvPicPr>
          <p:cNvPr id="16" name="Image 3" descr="/home/exx/workspace/sdvd/sigma_dvd_prototype/docs/pptx_build/assets/eq_lambda_sensitiv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9229" y="4436364"/>
            <a:ext cx="2508781" cy="285542"/>
          </a:xfrm>
          <a:prstGeom prst="rect">
            <a:avLst/>
          </a:prstGeom>
        </p:spPr>
      </p:pic>
      <p:pic>
        <p:nvPicPr>
          <p:cNvPr id="17" name="Image 4" descr="/home/exx/workspace/sdvd/sigma_dvd_prototype/docs/pptx_build/assets/eq_symmetric_A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5928" y="4996226"/>
            <a:ext cx="3655383" cy="2527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Complexity, pruning, validation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pic>
        <p:nvPicPr>
          <p:cNvPr id="4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188720"/>
            <a:ext cx="11475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Definitions: n unknowns,  M aggressors,  N time steps in the blame window,  horizon H = N · Δt_s.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65760" y="1691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0" y="1691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000" dirty="0"/>
          </a:p>
        </p:txBody>
      </p:sp>
      <p:pic>
        <p:nvPicPr>
          <p:cNvPr id="12" name="Image 1" descr="/home/exx/workspace/sdvd/sigma_dvd_prototype/docs/pptx_build/assets/eq_complex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1145909" cy="259357"/>
          </a:xfrm>
          <a:prstGeom prst="rect">
            <a:avLst/>
          </a:prstGeom>
        </p:spPr>
      </p:pic>
      <p:pic>
        <p:nvPicPr>
          <p:cNvPr id="13" name="Image 2" descr="/home/exx/workspace/sdvd/sigma_dvd_prototype/docs/pptx_build/assets/eq_memo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2103120"/>
            <a:ext cx="506245" cy="27057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5760" y="260604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Pruning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6576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aggressors only in [T − H, T]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Spatial: keep nodes with</a:t>
            </a:r>
            <a:endParaRPr lang="en-US" sz="1800" dirty="0"/>
          </a:p>
        </p:txBody>
      </p:sp>
      <p:pic>
        <p:nvPicPr>
          <p:cNvPr id="16" name="Image 3" descr="/home/exx/workspace/sdvd/sigma_dvd_prototype/docs/pptx_build/assets/eq_pruning_spat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383280"/>
            <a:ext cx="1510007" cy="3703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65760" y="397764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2000" dirty="0"/>
          </a:p>
        </p:txBody>
      </p:sp>
      <p:pic>
        <p:nvPicPr>
          <p:cNvPr id="18" name="Image 4" descr="/home/exx/workspace/sdvd/sigma_dvd_prototype/docs/pptx_build/assets/eq_validati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7864" y="4389120"/>
            <a:ext cx="1911512" cy="543652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280160" y="5207092"/>
            <a:ext cx="9646920" cy="594360"/>
          </a:xfrm>
          <a:prstGeom prst="rect">
            <a:avLst/>
          </a:prstGeom>
          <a:solidFill>
            <a:srgbClr val="F3F3F0"/>
          </a:solidFill>
          <a:ln w="19050">
            <a:solidFill>
              <a:srgbClr val="009999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1280160" y="5207092"/>
            <a:ext cx="9646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victim sensitivity sweep gives per-instance IR-drop blame.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pic>
        <p:nvPicPr>
          <p:cNvPr id="4" name="Image 0" descr="/home/exx/workspace/sdvd/sigma_dvd_prototype/docs/assets/siemens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28016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today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65760" y="1737360"/>
            <a:ext cx="11475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Decomposition: ΔV_v = ΔV_far,VCD + ΔV_near,opt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Per-instance blame at a chosen victim from a single backward sweep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65760" y="3017520"/>
            <a:ext cx="11475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 to follow-up — Step 3 of the optimization flow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65760" y="3520440"/>
            <a:ext cx="11475720" cy="1371600"/>
          </a:xfrm>
          <a:prstGeom prst="rect">
            <a:avLst/>
          </a:prstGeom>
          <a:solidFill>
            <a:srgbClr val="F3F3F0"/>
          </a:solidFill>
          <a:ln w="19050">
            <a:solidFill>
              <a:srgbClr val="0099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3520440"/>
            <a:ext cx="11109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the top-K aggressor set A from blame, optimize switching times {t_j ∈ W_j}_{j ∈ A} to maximize ΔV_v(T) subject to per-instance timing-window constraints.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Vectorless</dc:title>
  <dc:subject>PptxGenJS Presentation</dc:subject>
  <dc:creator>PptxGenJS</dc:creator>
  <cp:lastModifiedBy>PptxGenJS</cp:lastModifiedBy>
  <cp:revision>1</cp:revision>
  <dcterms:created xsi:type="dcterms:W3CDTF">2026-05-10T07:18:11Z</dcterms:created>
  <dcterms:modified xsi:type="dcterms:W3CDTF">2026-05-10T07:18:11Z</dcterms:modified>
</cp:coreProperties>
</file>