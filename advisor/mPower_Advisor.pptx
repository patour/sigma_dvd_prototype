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600" b="1">
                <a:solidFill>
                  <a:srgbClr val="D7DEE7"/>
                </a:solidFill>
                <a:latin typeface="Segoe UI"/>
              </a:rPr>
              <a:t>mPower Advisor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27432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48256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50" b="0">
                <a:solidFill>
                  <a:srgbClr val="4FA3FF"/>
                </a:solidFill>
                <a:latin typeface="Segoe UI"/>
              </a:rPr>
              <a:t>An agentic assistant for mPower users — from “the run finished” to “I know what to do next”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>
                <a:solidFill>
                  <a:srgbClr val="8B98A8"/>
                </a:solidFill>
                <a:latin typeface="Segoe UI"/>
              </a:rPr>
              <a:t>Automated triage of mpower.error.log, missing inputs, true warning roll-up counts and stage timing.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27248"/>
            <a:ext cx="2331720" cy="1481328"/>
          </a:xfrm>
          <a:prstGeom prst="roundRect">
            <a:avLst>
              <a:gd name="adj" fmla="val 9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127248"/>
            <a:ext cx="45720" cy="1481328"/>
          </a:xfrm>
          <a:prstGeom prst="rect">
            <a:avLst/>
          </a:prstGeom>
          <a:solidFill>
            <a:srgbClr val="8B9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3282696"/>
            <a:ext cx="192938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1">
                <a:solidFill>
                  <a:srgbClr val="8B98A8"/>
                </a:solidFill>
                <a:latin typeface="Segoe UI"/>
              </a:rPr>
              <a:t>YOU RUN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3511296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D7DEE7"/>
                </a:solidFill>
                <a:latin typeface="Segoe UI"/>
              </a:rPr>
              <a:t>Point it at a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3785615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>
                <a:solidFill>
                  <a:srgbClr val="35C47C"/>
                </a:solidFill>
                <a:latin typeface="Consolas"/>
              </a:rPr>
              <a:t>mpower-advisor &lt;run_dir&gt;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041648"/>
            <a:ext cx="1929384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B98A8"/>
                </a:solidFill>
                <a:latin typeface="Segoe UI"/>
              </a:rPr>
              <a:t>Reads logs_&lt;timestamp&gt;/ in place — any finished or historical run, no tool rebuild.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46120" y="3776472"/>
            <a:ext cx="219456" cy="182880"/>
          </a:xfrm>
          <a:prstGeom prst="rightArrow">
            <a:avLst>
              <a:gd name="adj1" fmla="val 42000"/>
              <a:gd name="adj2" fmla="val 50000"/>
            </a:avLst>
          </a:prstGeom>
          <a:solidFill>
            <a:srgbClr val="2E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57015" y="3127248"/>
            <a:ext cx="2331720" cy="1481328"/>
          </a:xfrm>
          <a:prstGeom prst="roundRect">
            <a:avLst>
              <a:gd name="adj" fmla="val 9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57015" y="3127248"/>
            <a:ext cx="45720" cy="1481328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6472" y="3282696"/>
            <a:ext cx="192938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1">
                <a:solidFill>
                  <a:srgbClr val="4FA3FF"/>
                </a:solidFill>
                <a:latin typeface="Segoe UI"/>
              </a:rPr>
              <a:t>IT COLLECTS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3511296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D7DEE7"/>
                </a:solidFill>
                <a:latin typeface="Segoe UI"/>
              </a:rPr>
              <a:t>Run Manifest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3785615"/>
            <a:ext cx="1929384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B98A8"/>
                </a:solidFill>
                <a:latin typeface="Segoe UI"/>
              </a:rPr>
              <a:t>mpower.log · mpower.error.log · mpower.warning.log · mpower.lib.log · mpower.cmd · run.tcl · *.rpt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80175" y="3776472"/>
            <a:ext cx="219456" cy="182880"/>
          </a:xfrm>
          <a:prstGeom prst="rightArrow">
            <a:avLst>
              <a:gd name="adj1" fmla="val 42000"/>
              <a:gd name="adj2" fmla="val 50000"/>
            </a:avLst>
          </a:prstGeom>
          <a:solidFill>
            <a:srgbClr val="2E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91072" y="3127248"/>
            <a:ext cx="2331720" cy="1481328"/>
          </a:xfrm>
          <a:prstGeom prst="roundRect">
            <a:avLst>
              <a:gd name="adj" fmla="val 9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91072" y="3127248"/>
            <a:ext cx="45720" cy="1481328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282696"/>
            <a:ext cx="192938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1">
                <a:solidFill>
                  <a:srgbClr val="4FA3FF"/>
                </a:solidFill>
                <a:latin typeface="Segoe UI"/>
              </a:rPr>
              <a:t>IT ANALYZES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511296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D7DEE7"/>
                </a:solidFill>
                <a:latin typeface="Segoe UI"/>
              </a:rPr>
              <a:t>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785615"/>
            <a:ext cx="1929384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B98A8"/>
                </a:solidFill>
                <a:latin typeface="Segoe UI"/>
              </a:rPr>
              <a:t>Rules emit severity · code · count · evidence. The model correlates and ranks — never computes.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14232" y="3776472"/>
            <a:ext cx="219456" cy="182880"/>
          </a:xfrm>
          <a:prstGeom prst="rightArrow">
            <a:avLst>
              <a:gd name="adj1" fmla="val 42000"/>
              <a:gd name="adj2" fmla="val 50000"/>
            </a:avLst>
          </a:prstGeom>
          <a:solidFill>
            <a:srgbClr val="2E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25128" y="3127248"/>
            <a:ext cx="2331720" cy="1481328"/>
          </a:xfrm>
          <a:prstGeom prst="roundRect">
            <a:avLst>
              <a:gd name="adj" fmla="val 9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25128" y="3127248"/>
            <a:ext cx="45720" cy="1481328"/>
          </a:xfrm>
          <a:prstGeom prst="rect">
            <a:avLst/>
          </a:prstGeom>
          <a:solidFill>
            <a:srgbClr val="35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4584" y="3282696"/>
            <a:ext cx="192938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1">
                <a:solidFill>
                  <a:srgbClr val="35C47C"/>
                </a:solidFill>
                <a:latin typeface="Segoe UI"/>
              </a:rPr>
              <a:t>YOU 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3511296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D7DEE7"/>
                </a:solidFill>
                <a:latin typeface="Segoe UI"/>
              </a:rPr>
              <a:t>Run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785615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>
                <a:solidFill>
                  <a:srgbClr val="35C47C"/>
                </a:solidFill>
                <a:latin typeface="Consolas"/>
              </a:rPr>
              <a:t>mpower_result_summary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584" y="4041648"/>
            <a:ext cx="1929384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B98A8"/>
                </a:solidFill>
                <a:latin typeface="Segoe UI"/>
              </a:rPr>
              <a:t>.html dashboard, or .md to paste into a ticket.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882896"/>
            <a:ext cx="10543032" cy="548640"/>
          </a:xfrm>
          <a:prstGeom prst="roundRect">
            <a:avLst>
              <a:gd name="adj" fmla="val 30000"/>
            </a:avLst>
          </a:prstGeom>
          <a:solidFill>
            <a:srgbClr val="222A35"/>
          </a:solidFill>
          <a:ln w="9525">
            <a:solidFill>
              <a:srgbClr val="35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505663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>
                <a:solidFill>
                  <a:srgbClr val="35C47C"/>
                </a:solidFill>
                <a:latin typeface="Segoe UI"/>
              </a:rPr>
              <a:t>OUTCOME   </a:t>
            </a:r>
            <a:r>
              <a:rPr sz="1150" b="0">
                <a:solidFill>
                  <a:srgbClr val="D7DEE7"/>
                </a:solidFill>
                <a:latin typeface="Segoe UI"/>
              </a:rPr>
              <a:t>A ranked </a:t>
            </a:r>
            <a:r>
              <a:rPr sz="1150" b="1">
                <a:solidFill>
                  <a:srgbClr val="D7DEE7"/>
                </a:solidFill>
                <a:latin typeface="Segoe UI"/>
              </a:rPr>
              <a:t>“Recommended Next Actions”</a:t>
            </a:r>
            <a:r>
              <a:rPr sz="1150" b="0">
                <a:solidFill>
                  <a:srgbClr val="D7DEE7"/>
                </a:solidFill>
                <a:latin typeface="Segoe UI"/>
              </a:rPr>
              <a:t> list — every number cited back to a file and line.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035040"/>
            <a:ext cx="1117396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8B98A8"/>
                </a:solidFill>
                <a:latin typeface="Segoe UI"/>
              </a:rPr>
              <a:t>Draft for review  ·  July 2026  ·  Siemens EDA — mPower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4008" cy="475488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>
                <a:solidFill>
                  <a:srgbClr val="D7DEE7"/>
                </a:solidFill>
                <a:latin typeface="Segoe UI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9536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>
                <a:solidFill>
                  <a:srgbClr val="8B98A8"/>
                </a:solidFill>
                <a:latin typeface="Segoe UI"/>
              </a:rPr>
              <a:t>Four capabilities in the first release — each shown with real output from the BRCM rts_top reference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376" y="1481328"/>
            <a:ext cx="310896" cy="310896"/>
          </a:xfrm>
          <a:prstGeom prst="ellipse">
            <a:avLst/>
          </a:prstGeom>
          <a:solidFill>
            <a:srgbClr val="35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27048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61018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499616"/>
            <a:ext cx="460857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>
                <a:solidFill>
                  <a:srgbClr val="D7DEE7"/>
                </a:solidFill>
                <a:latin typeface="Segoe UI"/>
              </a:rPr>
              <a:t>Run digest /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1920240"/>
            <a:ext cx="501091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35C47C"/>
                </a:solidFill>
                <a:latin typeface="Segoe UI"/>
              </a:rPr>
              <a:t>“Did my run do what I asked, and can I trust the result?”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" y="2231136"/>
            <a:ext cx="5010912" cy="804672"/>
          </a:xfrm>
          <a:prstGeom prst="roundRect">
            <a:avLst>
              <a:gd name="adj" fmla="val 6000"/>
            </a:avLst>
          </a:prstGeom>
          <a:solidFill>
            <a:srgbClr val="0B0F14"/>
          </a:solidFill>
          <a:ln w="9525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31720"/>
            <a:ext cx="4736592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8A8"/>
                </a:solidFill>
                <a:latin typeface="Consolas"/>
              </a:rPr>
              <a:t>Run outcome       </a:t>
            </a:r>
            <a:r>
              <a:rPr sz="850" b="0">
                <a:solidFill>
                  <a:srgbClr val="35C47C"/>
                </a:solidFill>
                <a:latin typeface="Consolas"/>
              </a:rPr>
              <a:t>Completed · final.db saved</a:t>
            </a:r>
          </a:p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8A8"/>
                </a:solidFill>
                <a:latin typeface="Consolas"/>
              </a:rPr>
              <a:t>Wall / peak mem   </a:t>
            </a:r>
            <a:r>
              <a:rPr sz="850" b="0">
                <a:solidFill>
                  <a:srgbClr val="C8D4E0"/>
                </a:solidFill>
                <a:latin typeface="Consolas"/>
              </a:rPr>
              <a:t>11h 18m  ·  98.7 GB</a:t>
            </a:r>
          </a:p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8A8"/>
                </a:solidFill>
                <a:latin typeface="Consolas"/>
              </a:rPr>
              <a:t>Worst dynamic IR  </a:t>
            </a:r>
            <a:r>
              <a:rPr sz="850" b="0">
                <a:solidFill>
                  <a:srgbClr val="FF5F56"/>
                </a:solidFill>
                <a:latin typeface="Consolas"/>
              </a:rPr>
              <a:t>14.7%</a:t>
            </a:r>
            <a:r>
              <a:rPr sz="850" b="0">
                <a:solidFill>
                  <a:srgbClr val="C8D4E0"/>
                </a:solidFill>
                <a:latin typeface="Consolas"/>
              </a:rPr>
              <a:t>  = 111.6 mV of 0.76 V</a:t>
            </a:r>
          </a:p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8A8"/>
                </a:solidFill>
                <a:latin typeface="Consolas"/>
              </a:rPr>
              <a:t>EM violations     </a:t>
            </a:r>
            <a:r>
              <a:rPr sz="850" b="0">
                <a:solidFill>
                  <a:srgbClr val="35C47C"/>
                </a:solidFill>
                <a:latin typeface="Consolas"/>
              </a:rPr>
              <a:t>0</a:t>
            </a:r>
            <a:r>
              <a:rPr sz="850" b="0">
                <a:solidFill>
                  <a:srgbClr val="8B98A8"/>
                </a:solidFill>
                <a:latin typeface="Consolas"/>
              </a:rPr>
              <a:t>      Hard errors  </a:t>
            </a:r>
            <a:r>
              <a:rPr sz="850" b="0">
                <a:solidFill>
                  <a:srgbClr val="F2B544"/>
                </a:solidFill>
                <a:latin typeface="Consola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19088" y="1481328"/>
            <a:ext cx="310896" cy="310896"/>
          </a:xfrm>
          <a:prstGeom prst="ellipse">
            <a:avLst/>
          </a:prstGeom>
          <a:solidFill>
            <a:srgbClr val="35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527048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61018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499616"/>
            <a:ext cx="460857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>
                <a:solidFill>
                  <a:srgbClr val="D7DEE7"/>
                </a:solidFill>
                <a:latin typeface="Segoe UI"/>
              </a:rPr>
              <a:t>Input &amp; setup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1920240"/>
            <a:ext cx="501091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35C47C"/>
                </a:solidFill>
                <a:latin typeface="Segoe UI"/>
              </a:rPr>
              <a:t>“What did mPower silently work around?”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7376" y="2231136"/>
            <a:ext cx="5010912" cy="804672"/>
          </a:xfrm>
          <a:prstGeom prst="roundRect">
            <a:avLst>
              <a:gd name="adj" fmla="val 6000"/>
            </a:avLst>
          </a:prstGeom>
          <a:solidFill>
            <a:srgbClr val="0B0F14"/>
          </a:solidFill>
          <a:ln w="9525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331720"/>
            <a:ext cx="4736592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8A8"/>
                </a:solidFill>
                <a:latin typeface="Consolas"/>
              </a:rPr>
              <a:t>PWR-327  </a:t>
            </a:r>
            <a:r>
              <a:rPr sz="850" b="0">
                <a:solidFill>
                  <a:srgbClr val="F2B544"/>
                </a:solidFill>
                <a:latin typeface="Consolas"/>
              </a:rPr>
              <a:t>523,976</a:t>
            </a:r>
            <a:r>
              <a:rPr sz="850" b="0">
                <a:solidFill>
                  <a:srgbClr val="C8D4E0"/>
                </a:solidFill>
                <a:latin typeface="Consolas"/>
              </a:rPr>
              <a:t> of 4,045,248 nets: no arrival time</a:t>
            </a:r>
          </a:p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8A8"/>
                </a:solidFill>
                <a:latin typeface="Consolas"/>
              </a:rPr>
              <a:t>PWR-297  </a:t>
            </a:r>
            <a:r>
              <a:rPr sz="850" b="0">
                <a:solidFill>
                  <a:srgbClr val="C8D4E0"/>
                </a:solidFill>
                <a:latin typeface="Consolas"/>
              </a:rPr>
              <a:t>Timescale is not defined in the TWF</a:t>
            </a:r>
          </a:p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8A8"/>
                </a:solidFill>
                <a:latin typeface="Consolas"/>
              </a:rPr>
              <a:t>warning  </a:t>
            </a:r>
            <a:r>
              <a:rPr sz="850" b="0">
                <a:solidFill>
                  <a:srgbClr val="C8D4E0"/>
                </a:solidFill>
                <a:latin typeface="Consolas"/>
              </a:rPr>
              <a:t>No instances found in twf</a:t>
            </a:r>
          </a:p>
          <a:p>
            <a:pPr algn="l">
              <a:lnSpc>
                <a:spcPct val="118000"/>
              </a:lnSpc>
            </a:pPr>
            <a:r>
              <a:rPr sz="850" b="0">
                <a:solidFill>
                  <a:srgbClr val="F2B544"/>
                </a:solidFill>
                <a:latin typeface="Consolas"/>
              </a:rPr>
              <a:t>→ </a:t>
            </a:r>
            <a:r>
              <a:rPr sz="850" b="0">
                <a:solidFill>
                  <a:srgbClr val="F2B544"/>
                </a:solidFill>
                <a:latin typeface="Consolas"/>
              </a:rPr>
              <a:t>4,888</a:t>
            </a:r>
            <a:r>
              <a:rPr sz="850" b="0">
                <a:solidFill>
                  <a:srgbClr val="C8D4E0"/>
                </a:solidFill>
                <a:latin typeface="Consolas"/>
              </a:rPr>
              <a:t> nets fell back to toggle_rate 0.07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28416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2376" y="3511296"/>
            <a:ext cx="310896" cy="310896"/>
          </a:xfrm>
          <a:prstGeom prst="ellipse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3557016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61018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3529584"/>
            <a:ext cx="460857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>
                <a:solidFill>
                  <a:srgbClr val="D7DEE7"/>
                </a:solidFill>
                <a:latin typeface="Segoe UI"/>
              </a:rPr>
              <a:t>Error triage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3950208"/>
            <a:ext cx="501091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4FA3FF"/>
                </a:solidFill>
                <a:latin typeface="Segoe UI"/>
              </a:rPr>
              <a:t>“It failed or looks wrong — why, and what do I change?”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" y="4261104"/>
            <a:ext cx="5010912" cy="804672"/>
          </a:xfrm>
          <a:prstGeom prst="roundRect">
            <a:avLst>
              <a:gd name="adj" fmla="val 6000"/>
            </a:avLst>
          </a:prstGeom>
          <a:solidFill>
            <a:srgbClr val="0B0F14"/>
          </a:solidFill>
          <a:ln w="9525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4361688"/>
            <a:ext cx="4736592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C8D4E0"/>
                </a:solidFill>
                <a:latin typeface="Consolas"/>
              </a:rPr>
              <a:t>Error: Clock ...u_rts_clk_rst_ctrl/dnt_ckbuf_rts_clk/o</a:t>
            </a:r>
          </a:p>
          <a:p>
            <a:pPr algn="l">
              <a:lnSpc>
                <a:spcPct val="118000"/>
              </a:lnSpc>
            </a:pPr>
            <a:r>
              <a:rPr sz="850" b="0">
                <a:solidFill>
                  <a:srgbClr val="C8D4E0"/>
                </a:solidFill>
                <a:latin typeface="Consolas"/>
              </a:rPr>
              <a:t>       already exist, </a:t>
            </a:r>
            <a:r>
              <a:rPr sz="850" b="0">
                <a:solidFill>
                  <a:srgbClr val="FF5F56"/>
                </a:solidFill>
                <a:latin typeface="Consolas"/>
              </a:rPr>
              <a:t>command ignored</a:t>
            </a:r>
            <a:r>
              <a:rPr sz="850" b="0">
                <a:solidFill>
                  <a:srgbClr val="8B98A8"/>
                </a:solidFill>
                <a:latin typeface="Consolas"/>
              </a:rPr>
              <a:t>     × 4</a:t>
            </a:r>
          </a:p>
          <a:p>
            <a:pPr algn="l">
              <a:lnSpc>
                <a:spcPct val="118000"/>
              </a:lnSpc>
            </a:pPr>
            <a:r>
              <a:rPr sz="850" b="0">
                <a:solidFill>
                  <a:srgbClr val="4FA3FF"/>
                </a:solidFill>
                <a:latin typeface="Consolas"/>
              </a:rPr>
              <a:t>→ mPower kept the first definition — on the same</a:t>
            </a:r>
          </a:p>
          <a:p>
            <a:pPr algn="l">
              <a:lnSpc>
                <a:spcPct val="118000"/>
              </a:lnSpc>
            </a:pPr>
            <a:r>
              <a:rPr sz="850" b="0">
                <a:solidFill>
                  <a:srgbClr val="4FA3FF"/>
                </a:solidFill>
                <a:latin typeface="Consolas"/>
              </a:rPr>
              <a:t>  block that has the worst dynamic IR (14.7%).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328416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19088" y="3511296"/>
            <a:ext cx="310896" cy="310896"/>
          </a:xfrm>
          <a:prstGeom prst="ellipse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557016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61018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529584"/>
            <a:ext cx="460857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>
                <a:solidFill>
                  <a:srgbClr val="D7DEE7"/>
                </a:solidFill>
                <a:latin typeface="Segoe UI"/>
              </a:rPr>
              <a:t>Performance advisor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3950208"/>
            <a:ext cx="501091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4FA3FF"/>
                </a:solidFill>
                <a:latin typeface="Segoe UI"/>
              </a:rPr>
              <a:t>“It took 11 hours. Where did the time go?”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37376" y="4261104"/>
            <a:ext cx="5010912" cy="804672"/>
          </a:xfrm>
          <a:prstGeom prst="roundRect">
            <a:avLst>
              <a:gd name="adj" fmla="val 6000"/>
            </a:avLst>
          </a:prstGeom>
          <a:solidFill>
            <a:srgbClr val="0B0F14"/>
          </a:solidFill>
          <a:ln w="9525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361688"/>
            <a:ext cx="4736592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8A8"/>
                </a:solidFill>
                <a:latin typeface="Consolas"/>
              </a:rPr>
              <a:t>Dynamic IR 50 ns @ 5 ps  </a:t>
            </a:r>
            <a:r>
              <a:rPr sz="850" b="0">
                <a:solidFill>
                  <a:srgbClr val="C8D4E0"/>
                </a:solidFill>
                <a:latin typeface="Consolas"/>
              </a:rPr>
              <a:t>7h 45m</a:t>
            </a:r>
            <a:r>
              <a:rPr sz="850" b="0">
                <a:solidFill>
                  <a:srgbClr val="FF5F56"/>
                </a:solidFill>
                <a:latin typeface="Consolas"/>
              </a:rPr>
              <a:t>   69%</a:t>
            </a:r>
          </a:p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8A8"/>
                </a:solidFill>
                <a:latin typeface="Consolas"/>
              </a:rPr>
              <a:t>SPEF + TWF + Power       </a:t>
            </a:r>
            <a:r>
              <a:rPr sz="850" b="0">
                <a:solidFill>
                  <a:srgbClr val="C8D4E0"/>
                </a:solidFill>
                <a:latin typeface="Consolas"/>
              </a:rPr>
              <a:t>2h 08m</a:t>
            </a:r>
            <a:r>
              <a:rPr sz="850" b="0">
                <a:solidFill>
                  <a:srgbClr val="F2B544"/>
                </a:solidFill>
                <a:latin typeface="Consolas"/>
              </a:rPr>
              <a:t>   19%</a:t>
            </a:r>
          </a:p>
          <a:p>
            <a:pPr algn="l">
              <a:lnSpc>
                <a:spcPct val="118000"/>
              </a:lnSpc>
            </a:pPr>
            <a:r>
              <a:rPr sz="850" b="0">
                <a:solidFill>
                  <a:srgbClr val="4FA3FF"/>
                </a:solidFill>
                <a:latin typeface="Consolas"/>
              </a:rPr>
              <a:t>→ 6.3h CPU vs 7.8h wall: not parallelizing well</a:t>
            </a:r>
          </a:p>
          <a:p>
            <a:pPr algn="l">
              <a:lnSpc>
                <a:spcPct val="118000"/>
              </a:lnSpc>
            </a:pPr>
            <a:r>
              <a:rPr sz="850" b="0">
                <a:solidFill>
                  <a:srgbClr val="4FA3FF"/>
                </a:solidFill>
                <a:latin typeface="Consolas"/>
              </a:rPr>
              <a:t>→ distributed power off · 16 of 128 slots used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376672"/>
            <a:ext cx="11173968" cy="804672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F2B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541264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F2B544"/>
                </a:solidFill>
                <a:latin typeface="Segoe UI"/>
              </a:rPr>
              <a:t>COMING NEXT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5779008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8B98A8"/>
                </a:solidFill>
                <a:latin typeface="Segoe UI"/>
              </a:rPr>
              <a:t>Phases 4–5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2848" y="5495544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>
                <a:solidFill>
                  <a:srgbClr val="D7DEE7"/>
                </a:solidFill>
                <a:latin typeface="Segoe UI"/>
              </a:rPr>
              <a:t>EM / IR-drop debug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12848" y="5724144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F2B544"/>
                </a:solidFill>
                <a:latin typeface="Segoe UI"/>
              </a:rPr>
              <a:t>“This instance violates — what causes it and what’s the fix?”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848" y="5916168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8B98A8"/>
                </a:solidFill>
                <a:latin typeface="Segoe UI"/>
              </a:rPr>
              <a:t>Needs hotspot ↔ power-density ↔ grid-R ↔ via-density correlation.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13448" y="5495544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>
                <a:solidFill>
                  <a:srgbClr val="D7DEE7"/>
                </a:solidFill>
                <a:latin typeface="Segoe UI"/>
              </a:rPr>
              <a:t>Setup assistant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13448" y="5724144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F2B544"/>
                </a:solidFill>
                <a:latin typeface="Segoe UI"/>
              </a:rPr>
              <a:t>“How do I set this flow up correctly in the first place?”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13448" y="5916168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8B98A8"/>
                </a:solidFill>
                <a:latin typeface="Segoe UI"/>
              </a:rPr>
              <a:t>Needs a canonical flow model mined from the 826 regression runScripts.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309360"/>
            <a:ext cx="1117396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8B98A8"/>
                </a:solidFill>
                <a:latin typeface="Segoe UI"/>
              </a:rPr>
              <a:t>Delivered as mpower_result_summary.html (dashboard) and .md (paste into a ticket).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4008" cy="475488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>
                <a:solidFill>
                  <a:srgbClr val="D7DEE7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9536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>
                <a:solidFill>
                  <a:srgbClr val="8B98A8"/>
                </a:solidFill>
                <a:latin typeface="Segoe UI"/>
              </a:rPr>
              <a:t>Five layers — each independently useful and independently testable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35024"/>
            <a:ext cx="8366760" cy="667512"/>
          </a:xfrm>
          <a:prstGeom prst="roundRect">
            <a:avLst>
              <a:gd name="adj" fmla="val 12000"/>
            </a:avLst>
          </a:prstGeom>
          <a:solidFill>
            <a:srgbClr val="222A35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389888"/>
            <a:ext cx="566928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>
                <a:solidFill>
                  <a:srgbClr val="8B98A8"/>
                </a:solidFill>
                <a:latin typeface="Segoe UI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435608"/>
            <a:ext cx="72694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D7DEE7"/>
                </a:solidFill>
                <a:latin typeface="Segoe UI"/>
              </a:rPr>
              <a:t>Run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719072"/>
            <a:ext cx="72694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19" b="0">
                <a:solidFill>
                  <a:srgbClr val="8B98A8"/>
                </a:solidFill>
                <a:latin typeface="Segoe UI"/>
              </a:rPr>
              <a:t>mpower.log · mpower.error.log · mpower.warning.log · mpower.lib.log · mpower.cmd · run.tcl · *.rpt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86968" y="2011680"/>
            <a:ext cx="146304" cy="10058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121408"/>
            <a:ext cx="8366760" cy="667512"/>
          </a:xfrm>
          <a:prstGeom prst="roundRect">
            <a:avLst>
              <a:gd name="adj" fmla="val 12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176272"/>
            <a:ext cx="566928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>
                <a:solidFill>
                  <a:srgbClr val="4FA3FF"/>
                </a:solidFill>
                <a:latin typeface="Segoe UI"/>
              </a:rPr>
              <a:t>L1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221991"/>
            <a:ext cx="72694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D7DEE7"/>
                </a:solidFill>
                <a:latin typeface="Segoe UI"/>
              </a:rPr>
              <a:t>Collectors — discovery &amp; normalization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505456"/>
            <a:ext cx="72694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19" b="0">
                <a:solidFill>
                  <a:srgbClr val="8B98A8"/>
                </a:solidFill>
                <a:latin typeface="Segoe UI"/>
              </a:rPr>
              <a:t>Emits the Run Manifest: one versioned JSON that everything downstream consumes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86968" y="2798063"/>
            <a:ext cx="146304" cy="10058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907791"/>
            <a:ext cx="8366760" cy="667512"/>
          </a:xfrm>
          <a:prstGeom prst="roundRect">
            <a:avLst>
              <a:gd name="adj" fmla="val 12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962656"/>
            <a:ext cx="566928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>
                <a:solidFill>
                  <a:srgbClr val="4FA3FF"/>
                </a:solidFill>
                <a:latin typeface="Segoe UI"/>
              </a:rPr>
              <a:t>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3008375"/>
            <a:ext cx="72694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D7DEE7"/>
                </a:solidFill>
                <a:latin typeface="Segoe UI"/>
              </a:rPr>
              <a:t>Knowledge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291839"/>
            <a:ext cx="72694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19" b="0">
                <a:solidFill>
                  <a:srgbClr val="8B98A8"/>
                </a:solidFill>
                <a:latin typeface="Segoe UI"/>
              </a:rPr>
              <a:t>1,767 .mhelp codes · 390 ghelp/*.help commands · 826 regression runScripts · playbooks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86968" y="3584448"/>
            <a:ext cx="146304" cy="10058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3694176"/>
            <a:ext cx="8366760" cy="667512"/>
          </a:xfrm>
          <a:prstGeom prst="roundRect">
            <a:avLst>
              <a:gd name="adj" fmla="val 12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749039"/>
            <a:ext cx="566928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>
                <a:solidFill>
                  <a:srgbClr val="4FA3FF"/>
                </a:solidFill>
                <a:latin typeface="Segoe UI"/>
              </a:rP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794760"/>
            <a:ext cx="72694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D7DEE7"/>
                </a:solidFill>
                <a:latin typeface="Segoe UI"/>
              </a:rPr>
              <a:t>Analyzers — deterministic rules →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4078224"/>
            <a:ext cx="72694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19" b="0">
                <a:solidFill>
                  <a:srgbClr val="8B98A8"/>
                </a:solidFill>
                <a:latin typeface="Segoe UI"/>
              </a:rPr>
              <a:t>completeness · error triage · warning roll-up · performance · margin · config sanity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86968" y="4370832"/>
            <a:ext cx="146304" cy="10058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480560"/>
            <a:ext cx="8366760" cy="667512"/>
          </a:xfrm>
          <a:prstGeom prst="roundRect">
            <a:avLst>
              <a:gd name="adj" fmla="val 12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4535424"/>
            <a:ext cx="566928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>
                <a:solidFill>
                  <a:srgbClr val="4FA3FF"/>
                </a:solidFill>
                <a:latin typeface="Segoe UI"/>
              </a:rPr>
              <a:t>L4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4581144"/>
            <a:ext cx="72694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D7DEE7"/>
                </a:solidFill>
                <a:latin typeface="Segoe UI"/>
              </a:rPr>
              <a:t>Reasoning — LLM correlation &amp; narrative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4168" y="4864608"/>
            <a:ext cx="72694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19" b="0">
                <a:solidFill>
                  <a:srgbClr val="8B98A8"/>
                </a:solidFill>
                <a:latin typeface="Segoe UI"/>
              </a:rPr>
              <a:t>Cross-domain correlation, impact ranking, prose · + agentic tool-use (Phase 3+)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86968" y="5157216"/>
            <a:ext cx="146304" cy="10058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5266944"/>
            <a:ext cx="8366760" cy="667512"/>
          </a:xfrm>
          <a:prstGeom prst="roundRect">
            <a:avLst>
              <a:gd name="adj" fmla="val 12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5321808"/>
            <a:ext cx="566928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>
                <a:solidFill>
                  <a:srgbClr val="4FA3FF"/>
                </a:solidFill>
                <a:latin typeface="Segoe UI"/>
              </a:rPr>
              <a:t>L5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4168" y="5367528"/>
            <a:ext cx="72694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D7DEE7"/>
                </a:solidFill>
                <a:latin typeface="Segoe UI"/>
              </a:rPr>
              <a:t>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44168" y="5650992"/>
            <a:ext cx="72694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19" b="0">
                <a:solidFill>
                  <a:srgbClr val="8B98A8"/>
                </a:solidFill>
                <a:latin typeface="Segoe UI"/>
              </a:rPr>
              <a:t>mpower_result_summary.html · mpower_result_summary.md · interactive chat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70848" y="1335024"/>
            <a:ext cx="2606040" cy="4745736"/>
          </a:xfrm>
          <a:prstGeom prst="roundRect">
            <a:avLst>
              <a:gd name="adj" fmla="val 5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0304" y="1517904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4FA3FF"/>
                </a:solidFill>
                <a:latin typeface="Segoe UI"/>
              </a:rPr>
              <a:t>DESIGN PRINCIPLES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0304" y="1883664"/>
            <a:ext cx="216712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D7DEE7"/>
                </a:solidFill>
                <a:latin typeface="Segoe UI"/>
              </a:rPr>
              <a:t>Deterministic first, LLM second</a:t>
            </a:r>
          </a:p>
          <a:p>
            <a:pPr algn="l">
              <a:lnSpc>
                <a:spcPct val="100000"/>
              </a:lnSpc>
            </a:pPr>
            <a:r>
              <a:rPr sz="980" b="0">
                <a:solidFill>
                  <a:srgbClr val="8B98A8"/>
                </a:solidFill>
                <a:latin typeface="Segoe UI"/>
              </a:rPr>
              <a:t>Every number comes from a parser. The model explains and ranks — never computes.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0304" y="3072384"/>
            <a:ext cx="216712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D7DEE7"/>
                </a:solidFill>
                <a:latin typeface="Segoe UI"/>
              </a:rPr>
              <a:t>Cite everything</a:t>
            </a:r>
          </a:p>
          <a:p>
            <a:pPr algn="l">
              <a:lnSpc>
                <a:spcPct val="100000"/>
              </a:lnSpc>
            </a:pPr>
            <a:r>
              <a:rPr sz="980" b="0">
                <a:solidFill>
                  <a:srgbClr val="8B98A8"/>
                </a:solidFill>
                <a:latin typeface="Segoe UI"/>
              </a:rPr>
              <a:t>Every finding links to source file and line — auditable in one click.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0304" y="4087368"/>
            <a:ext cx="216712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D7DEE7"/>
                </a:solidFill>
                <a:latin typeface="Segoe UI"/>
              </a:rPr>
              <a:t>Degrade gracefully</a:t>
            </a:r>
          </a:p>
          <a:p>
            <a:pPr algn="l">
              <a:lnSpc>
                <a:spcPct val="100000"/>
              </a:lnSpc>
            </a:pPr>
            <a:r>
              <a:rPr sz="980" b="0">
                <a:solidFill>
                  <a:srgbClr val="8B98A8"/>
                </a:solidFill>
                <a:latin typeface="Segoe UI"/>
              </a:rPr>
              <a:t>Crashed runs, partial runs, and runs with no report_time calls still report.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5285232"/>
            <a:ext cx="216712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D7DEE7"/>
                </a:solidFill>
                <a:latin typeface="Segoe UI"/>
              </a:rPr>
              <a:t>Offline-capable</a:t>
            </a:r>
          </a:p>
          <a:p>
            <a:pPr algn="l">
              <a:lnSpc>
                <a:spcPct val="100000"/>
              </a:lnSpc>
            </a:pPr>
            <a:r>
              <a:rPr sz="980" b="0">
                <a:solidFill>
                  <a:srgbClr val="8B98A8"/>
                </a:solidFill>
                <a:latin typeface="Segoe UI"/>
              </a:rPr>
              <a:t>Usable with no external network — and with no LLM at all.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327648"/>
            <a:ext cx="1117396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8B98A8"/>
                </a:solidFill>
                <a:latin typeface="Segoe UI"/>
              </a:rPr>
              <a:t>Key decision: the Run Manifest decouples parsing from analysis — the whole system is testable without a single LLM 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4008" cy="475488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>
                <a:solidFill>
                  <a:srgbClr val="D7DEE7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9536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>
                <a:solidFill>
                  <a:srgbClr val="8B98A8"/>
                </a:solidFill>
                <a:latin typeface="Segoe UI"/>
              </a:rPr>
              <a:t>What the user gets, in the order it 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1408176"/>
            <a:ext cx="36576" cy="3771900"/>
          </a:xfrm>
          <a:prstGeom prst="rect">
            <a:avLst/>
          </a:prstGeom>
          <a:solidFill>
            <a:srgbClr val="2E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98448" y="1316736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" y="1472184"/>
            <a:ext cx="301752" cy="301752"/>
          </a:xfrm>
          <a:prstGeom prst="ellipse">
            <a:avLst/>
          </a:prstGeom>
          <a:solidFill>
            <a:srgbClr val="35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517904"/>
            <a:ext cx="3017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>
                <a:solidFill>
                  <a:srgbClr val="061018"/>
                </a:solidFill>
                <a:latin typeface="Segoe U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389888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>
                <a:solidFill>
                  <a:srgbClr val="D7DEE7"/>
                </a:solidFill>
                <a:latin typeface="Segoe UI"/>
              </a:rPr>
              <a:t>Groundwork</a:t>
            </a:r>
            <a:r>
              <a:rPr sz="1000" b="0">
                <a:solidFill>
                  <a:srgbClr val="8B98A8"/>
                </a:solidFill>
                <a:latin typeface="Segoe UI"/>
              </a:rPr>
              <a:t>     Phase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1655064"/>
            <a:ext cx="85953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40" b="0">
                <a:solidFill>
                  <a:srgbClr val="8B98A8"/>
                </a:solidFill>
                <a:latin typeface="Segoe UI"/>
              </a:rPr>
              <a:t>Labeled corpus of 20–30 historical runs, the Run Manifest schema, a normalized .mhelp &lt;type&gt; field, and the eval harness.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51008" y="1463039"/>
            <a:ext cx="1115568" cy="310896"/>
          </a:xfrm>
          <a:prstGeom prst="roundRect">
            <a:avLst>
              <a:gd name="adj" fmla="val 40000"/>
            </a:avLst>
          </a:prstGeom>
          <a:solidFill>
            <a:srgbClr val="222A35"/>
          </a:solidFill>
          <a:ln w="9525">
            <a:solidFill>
              <a:srgbClr val="35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51008" y="1517904"/>
            <a:ext cx="111556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35C47C"/>
                </a:solidFill>
                <a:latin typeface="Segoe UI"/>
              </a:rPr>
              <a:t>2 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98448" y="2016252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" y="2171700"/>
            <a:ext cx="301752" cy="301752"/>
          </a:xfrm>
          <a:prstGeom prst="ellipse">
            <a:avLst/>
          </a:prstGeom>
          <a:solidFill>
            <a:srgbClr val="35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217420"/>
            <a:ext cx="3017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>
                <a:solidFill>
                  <a:srgbClr val="061018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2089404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>
                <a:solidFill>
                  <a:srgbClr val="D7DEE7"/>
                </a:solidFill>
                <a:latin typeface="Segoe UI"/>
              </a:rPr>
              <a:t>A run report you can trust</a:t>
            </a:r>
            <a:r>
              <a:rPr sz="1000" b="0">
                <a:solidFill>
                  <a:srgbClr val="8B98A8"/>
                </a:solidFill>
                <a:latin typeface="Segoe UI"/>
              </a:rPr>
              <a:t>     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2354580"/>
            <a:ext cx="85953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40" b="0">
                <a:solidFill>
                  <a:srgbClr val="8B98A8"/>
                </a:solidFill>
                <a:latin typeface="Segoe UI"/>
              </a:rPr>
              <a:t>Deterministic digest — KPIs, stage timing, max-of-roll-up warning counts, missing inputs. No LLM. Shippable to AEs on its 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51008" y="2162556"/>
            <a:ext cx="1115568" cy="310896"/>
          </a:xfrm>
          <a:prstGeom prst="roundRect">
            <a:avLst>
              <a:gd name="adj" fmla="val 40000"/>
            </a:avLst>
          </a:prstGeom>
          <a:solidFill>
            <a:srgbClr val="222A35"/>
          </a:solidFill>
          <a:ln w="9525">
            <a:solidFill>
              <a:srgbClr val="35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51008" y="2217420"/>
            <a:ext cx="111556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35C47C"/>
                </a:solidFill>
                <a:latin typeface="Segoe UI"/>
              </a:rPr>
              <a:t>2–3 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98448" y="2715768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9224" y="2871215"/>
            <a:ext cx="301752" cy="301752"/>
          </a:xfrm>
          <a:prstGeom prst="ellipse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2916936"/>
            <a:ext cx="3017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>
                <a:solidFill>
                  <a:srgbClr val="061018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2788920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>
                <a:solidFill>
                  <a:srgbClr val="D7DEE7"/>
                </a:solidFill>
                <a:latin typeface="Segoe UI"/>
              </a:rPr>
              <a:t>It explains itself</a:t>
            </a:r>
            <a:r>
              <a:rPr sz="1000" b="0">
                <a:solidFill>
                  <a:srgbClr val="8B98A8"/>
                </a:solidFill>
                <a:latin typeface="Segoe UI"/>
              </a:rPr>
              <a:t>     Phase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3054096"/>
            <a:ext cx="85953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40" b="0">
                <a:solidFill>
                  <a:srgbClr val="8B98A8"/>
                </a:solidFill>
                <a:latin typeface="Segoe UI"/>
              </a:rPr>
              <a:t>Cross-domain correlation, severity ranking and a prioritized next-actions list — strictly grounded, every claim cited.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51008" y="2862072"/>
            <a:ext cx="1115568" cy="310896"/>
          </a:xfrm>
          <a:prstGeom prst="roundRect">
            <a:avLst>
              <a:gd name="adj" fmla="val 40000"/>
            </a:avLst>
          </a:prstGeom>
          <a:solidFill>
            <a:srgbClr val="222A35"/>
          </a:solidFill>
          <a:ln w="9525">
            <a:solidFill>
              <a:srgbClr val="4F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51008" y="2916936"/>
            <a:ext cx="111556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4FA3FF"/>
                </a:solidFill>
                <a:latin typeface="Segoe UI"/>
              </a:rPr>
              <a:t>2–3 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98448" y="3415284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" y="3570732"/>
            <a:ext cx="301752" cy="301752"/>
          </a:xfrm>
          <a:prstGeom prst="ellipse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3616452"/>
            <a:ext cx="3017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>
                <a:solidFill>
                  <a:srgbClr val="061018"/>
                </a:solidFill>
                <a:latin typeface="Segoe U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3488436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>
                <a:solidFill>
                  <a:srgbClr val="D7DEE7"/>
                </a:solidFill>
                <a:latin typeface="Segoe UI"/>
              </a:rPr>
              <a:t>You can ask it questions</a:t>
            </a:r>
            <a:r>
              <a:rPr sz="1000" b="0">
                <a:solidFill>
                  <a:srgbClr val="8B98A8"/>
                </a:solidFill>
                <a:latin typeface="Segoe UI"/>
              </a:rPr>
              <a:t>     Phase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36192" y="3753611"/>
            <a:ext cx="85953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40" b="0">
                <a:solidFill>
                  <a:srgbClr val="8B98A8"/>
                </a:solidFill>
                <a:latin typeface="Segoe UI"/>
              </a:rPr>
              <a:t>Conversational follow-up (“show me the nets without_delay”), tool-use over the manifest, multi-run diff vs a prior run.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51008" y="3561588"/>
            <a:ext cx="1115568" cy="310896"/>
          </a:xfrm>
          <a:prstGeom prst="roundRect">
            <a:avLst>
              <a:gd name="adj" fmla="val 40000"/>
            </a:avLst>
          </a:prstGeom>
          <a:solidFill>
            <a:srgbClr val="222A35"/>
          </a:solidFill>
          <a:ln w="9525">
            <a:solidFill>
              <a:srgbClr val="4F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51008" y="3616452"/>
            <a:ext cx="111556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4FA3FF"/>
                </a:solidFill>
                <a:latin typeface="Segoe UI"/>
              </a:rPr>
              <a:t>2–3 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98448" y="4114800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" y="4270248"/>
            <a:ext cx="301752" cy="301752"/>
          </a:xfrm>
          <a:prstGeom prst="ellipse">
            <a:avLst/>
          </a:prstGeom>
          <a:solidFill>
            <a:srgbClr val="F2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" y="4315968"/>
            <a:ext cx="3017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>
                <a:solidFill>
                  <a:srgbClr val="061018"/>
                </a:solidFill>
                <a:latin typeface="Segoe U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187952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>
                <a:solidFill>
                  <a:srgbClr val="D7DEE7"/>
                </a:solidFill>
                <a:latin typeface="Segoe UI"/>
              </a:rPr>
              <a:t>It finds the root cause</a:t>
            </a:r>
            <a:r>
              <a:rPr sz="1000" b="0">
                <a:solidFill>
                  <a:srgbClr val="8B98A8"/>
                </a:solidFill>
                <a:latin typeface="Segoe UI"/>
              </a:rPr>
              <a:t>     Phase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453128"/>
            <a:ext cx="85953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40" b="0">
                <a:solidFill>
                  <a:srgbClr val="8B98A8"/>
                </a:solidFill>
                <a:latin typeface="Segoe UI"/>
              </a:rPr>
              <a:t>EM / IR-drop debug — hotspot clustering, blame attribution, decap adequacy, concrete mitigation proposals.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51008" y="4261104"/>
            <a:ext cx="1115568" cy="310896"/>
          </a:xfrm>
          <a:prstGeom prst="roundRect">
            <a:avLst>
              <a:gd name="adj" fmla="val 40000"/>
            </a:avLst>
          </a:prstGeom>
          <a:solidFill>
            <a:srgbClr val="222A35"/>
          </a:solidFill>
          <a:ln w="9525">
            <a:solidFill>
              <a:srgbClr val="F2B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51008" y="4315968"/>
            <a:ext cx="111556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2B544"/>
                </a:solidFill>
                <a:latin typeface="Segoe UI"/>
              </a:rPr>
              <a:t>10–14 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98448" y="4814316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224" y="4969764"/>
            <a:ext cx="301752" cy="301752"/>
          </a:xfrm>
          <a:prstGeom prst="ellipse">
            <a:avLst/>
          </a:prstGeom>
          <a:solidFill>
            <a:srgbClr val="F2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" y="5015484"/>
            <a:ext cx="3017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>
                <a:solidFill>
                  <a:srgbClr val="061018"/>
                </a:solidFill>
                <a:latin typeface="Segoe U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36192" y="4887468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>
                <a:solidFill>
                  <a:srgbClr val="D7DEE7"/>
                </a:solidFill>
                <a:latin typeface="Segoe UI"/>
              </a:rPr>
              <a:t>It catches problems before you run</a:t>
            </a:r>
            <a:r>
              <a:rPr sz="1000" b="0">
                <a:solidFill>
                  <a:srgbClr val="8B98A8"/>
                </a:solidFill>
                <a:latin typeface="Segoe UI"/>
              </a:rPr>
              <a:t>     Phase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36192" y="5152644"/>
            <a:ext cx="85953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40" b="0">
                <a:solidFill>
                  <a:srgbClr val="8B98A8"/>
                </a:solidFill>
                <a:latin typeface="Segoe UI"/>
              </a:rPr>
              <a:t>Setup assistant — pre-flight flow validation, guided setup, an analyze_run Tcl command, GUI2 panel / CI gating.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351008" y="4960620"/>
            <a:ext cx="1115568" cy="310896"/>
          </a:xfrm>
          <a:prstGeom prst="roundRect">
            <a:avLst>
              <a:gd name="adj" fmla="val 40000"/>
            </a:avLst>
          </a:prstGeom>
          <a:solidFill>
            <a:srgbClr val="222A35"/>
          </a:solidFill>
          <a:ln w="9525">
            <a:solidFill>
              <a:srgbClr val="F2B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51008" y="5015484"/>
            <a:ext cx="111556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2B544"/>
                </a:solidFill>
                <a:latin typeface="Segoe UI"/>
              </a:rPr>
              <a:t>6–10 EW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98448" y="5532119"/>
            <a:ext cx="10378440" cy="530352"/>
          </a:xfrm>
          <a:prstGeom prst="roundRect">
            <a:avLst>
              <a:gd name="adj" fmla="val 26000"/>
            </a:avLst>
          </a:prstGeom>
          <a:noFill/>
          <a:ln w="12700">
            <a:solidFill>
              <a:srgbClr val="4F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36192" y="5623559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A3FF"/>
                </a:solidFill>
                <a:latin typeface="Segoe UI"/>
              </a:rPr>
              <a:t>Runs alongside every phase — remediation knowledge  (4–6 expert-weeks, not dev time):  </a:t>
            </a:r>
            <a:r>
              <a:rPr sz="1100" b="0">
                <a:solidFill>
                  <a:srgbClr val="8B98A8"/>
                </a:solidFill>
                <a:latin typeface="Segoe UI"/>
              </a:rPr>
              <a:t>976 of the 1,767 .mhelp codes carry &lt;action&gt; No_Information. Filling &lt;action&gt; for the top codes by frequency turns a finding into a fix.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135623"/>
            <a:ext cx="1117396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8B98A8"/>
                </a:solidFill>
                <a:latin typeface="Segoe UI"/>
              </a:rPr>
              <a:t>First shippable value: ~4–5 EW (Phases 0+1)   ·   Full vision: ~24–35 dev-EW ≈ 2 engineers × 3–4 months, plus 4–6 domain-expert weeks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