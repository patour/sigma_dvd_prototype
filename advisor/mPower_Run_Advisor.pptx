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47088"/>
            <a:ext cx="12191695" cy="25603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D7DEE7"/>
                </a:solidFill>
                <a:latin typeface="Segoe UI"/>
              </a:rPr>
              <a:t>mPower Run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84831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4FA3FF"/>
                </a:solidFill>
                <a:latin typeface="Segoe UI"/>
              </a:rPr>
              <a:t>An agentic assistant for mPower users — from “the run finished” to “I know what to do next”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8A8"/>
                </a:solidFill>
                <a:latin typeface="Segoe UI"/>
              </a:rPr>
              <a:t>Automated triage of EM / IR-drop results, run errors, missing inputs and performance — delivered as an actionable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86200"/>
            <a:ext cx="2587752" cy="1207008"/>
          </a:xfrm>
          <a:prstGeom prst="roundRect">
            <a:avLst>
              <a:gd name="adj" fmla="val 9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886200"/>
            <a:ext cx="45720" cy="1207008"/>
          </a:xfrm>
          <a:prstGeom prst="rect">
            <a:avLst/>
          </a:prstGeom>
          <a:solidFill>
            <a:srgbClr val="35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4041648"/>
            <a:ext cx="220370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98A8"/>
                </a:solidFill>
                <a:latin typeface="Segoe UI"/>
              </a:rPr>
              <a:t>FIRST VALUE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2300" b="1" i="0">
                <a:solidFill>
                  <a:srgbClr val="35C47C"/>
                </a:solidFill>
                <a:latin typeface="Segoe UI"/>
              </a:rPr>
              <a:t>8–10 EW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8B98A8"/>
                </a:solidFill>
                <a:latin typeface="Segoe UI"/>
              </a:rPr>
              <a:t>Phases 0–1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66744" y="3886200"/>
            <a:ext cx="2587752" cy="1207008"/>
          </a:xfrm>
          <a:prstGeom prst="roundRect">
            <a:avLst>
              <a:gd name="adj" fmla="val 9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66744" y="3886200"/>
            <a:ext cx="45720" cy="1207008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4041648"/>
            <a:ext cx="220370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98A8"/>
                </a:solidFill>
                <a:latin typeface="Segoe UI"/>
              </a:rPr>
              <a:t>FULL VISION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2300" b="1" i="0">
                <a:solidFill>
                  <a:srgbClr val="4FA3FF"/>
                </a:solidFill>
                <a:latin typeface="Segoe UI"/>
              </a:rPr>
              <a:t>34–48 EW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8B98A8"/>
                </a:solidFill>
                <a:latin typeface="Segoe UI"/>
              </a:rPr>
              <a:t>≈2 eng × 4–6 months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3886200"/>
            <a:ext cx="2587752" cy="1207008"/>
          </a:xfrm>
          <a:prstGeom prst="roundRect">
            <a:avLst>
              <a:gd name="adj" fmla="val 9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3886200"/>
            <a:ext cx="45720" cy="1207008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4" y="4041648"/>
            <a:ext cx="220370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98A8"/>
                </a:solidFill>
                <a:latin typeface="Segoe UI"/>
              </a:rPr>
              <a:t>KNOWLEDGE BASE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2300" b="1" i="0">
                <a:solidFill>
                  <a:srgbClr val="4FA3FF"/>
                </a:solidFill>
                <a:latin typeface="Segoe UI"/>
              </a:rPr>
              <a:t>1,767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8B98A8"/>
                </a:solidFill>
                <a:latin typeface="Segoe UI"/>
              </a:rPr>
              <a:t>message codes already exist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54312" y="3886200"/>
            <a:ext cx="2587752" cy="1207008"/>
          </a:xfrm>
          <a:prstGeom prst="roundRect">
            <a:avLst>
              <a:gd name="adj" fmla="val 9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54312" y="3886200"/>
            <a:ext cx="45720" cy="1207008"/>
          </a:xfrm>
          <a:prstGeom prst="rect">
            <a:avLst/>
          </a:prstGeom>
          <a:solidFill>
            <a:srgbClr val="35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3768" y="4041648"/>
            <a:ext cx="220370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98A8"/>
                </a:solidFill>
                <a:latin typeface="Segoe UI"/>
              </a:rPr>
              <a:t>TIME-TO-INSIGHT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2300" b="1" i="0">
                <a:solidFill>
                  <a:srgbClr val="35C47C"/>
                </a:solidFill>
                <a:latin typeface="Segoe UI"/>
              </a:rPr>
              <a:t>hrs → min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8B98A8"/>
                </a:solidFill>
                <a:latin typeface="Segoe UI"/>
              </a:rPr>
              <a:t>target &lt; 5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98A8"/>
                </a:solidFill>
                <a:latin typeface="Segoe UI"/>
              </a:rPr>
              <a:t>Draft for review  ·  July 2026  ·  Siemens EDA — mPower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475488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D7DEE7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9536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8A8"/>
                </a:solidFill>
                <a:latin typeface="Segoe UI"/>
              </a:rPr>
              <a:t>Why now, and why this is tractable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11173968" cy="1133856"/>
          </a:xfrm>
          <a:prstGeom prst="roundRect">
            <a:avLst>
              <a:gd name="adj" fmla="val 7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0292" cy="1133856"/>
          </a:xfrm>
          <a:prstGeom prst="rect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35608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5F56"/>
                </a:solidFill>
                <a:latin typeface="Segoe U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444752"/>
            <a:ext cx="84490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7DEE7"/>
                </a:solidFill>
                <a:latin typeface="Segoe UI"/>
              </a:rPr>
              <a:t>After an 11-hour run, engineers spend hours hand-reading mpower.log, cross-referencing warning codes and correlating IR hotspots with upstream input problems. The analysis is reproducible and largely mechanical — it simply isn't automated.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78608"/>
            <a:ext cx="11173968" cy="1133856"/>
          </a:xfrm>
          <a:prstGeom prst="roundRect">
            <a:avLst>
              <a:gd name="adj" fmla="val 7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50292" cy="1133856"/>
          </a:xfrm>
          <a:prstGeom prst="rect">
            <a:avLst/>
          </a:prstGeom>
          <a:solidFill>
            <a:srgbClr val="35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715768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5C47C"/>
                </a:solidFill>
                <a:latin typeface="Segoe UI"/>
              </a:rPr>
              <a:t>The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4490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7DEE7"/>
                </a:solidFill>
                <a:latin typeface="Segoe UI"/>
              </a:rPr>
              <a:t>The inputs are far more tractable than expected. mpower.log is only 67 KB / 814 lines even for a 61.8M-node design — it fits in a single LLM context. A structured catalog of 1,767 message codes, 390 command help files and 826 regression flows already exists in the repo.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58768"/>
            <a:ext cx="11173968" cy="1133856"/>
          </a:xfrm>
          <a:prstGeom prst="roundRect">
            <a:avLst>
              <a:gd name="adj" fmla="val 7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58768"/>
            <a:ext cx="50292" cy="1133856"/>
          </a:xfrm>
          <a:prstGeom prst="rect">
            <a:avLst/>
          </a:prstGeom>
          <a:solidFill>
            <a:srgbClr val="F2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995928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2B544"/>
                </a:solidFill>
                <a:latin typeface="Segoe UI"/>
              </a:rPr>
              <a:t>The gap to 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005072"/>
            <a:ext cx="84490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7DEE7"/>
                </a:solidFill>
                <a:latin typeface="Segoe UI"/>
              </a:rPr>
              <a:t>976 of 1,733 message codes (56%) have an empty &lt;action&gt; field — the one field that tells a user what to DO. Filling it for the top codes is the highest-ROI work in the program, and it helps users even if the agent is never built.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138928"/>
            <a:ext cx="11173968" cy="1133856"/>
          </a:xfrm>
          <a:prstGeom prst="roundRect">
            <a:avLst>
              <a:gd name="adj" fmla="val 7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138928"/>
            <a:ext cx="50292" cy="1133856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276088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FA3FF"/>
                </a:solidFill>
                <a:latin typeface="Segoe UI"/>
              </a:rPr>
              <a:t>Proof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285232"/>
            <a:ext cx="84490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7DEE7"/>
                </a:solidFill>
                <a:latin typeface="Segoe UI"/>
              </a:rPr>
              <a:t>While planning, a validated log-analysis rule reproduced all 13 warning counts in the hand-authored reference report — and surfaced two the human expert missed, including PWR-268 (44,164×, “TWF pin not connected to a net”).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276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B98A8"/>
                </a:solidFill>
                <a:latin typeface="Segoe UI"/>
              </a:rPr>
              <a:t>Recommendation: start Phase 0 + knowledge enrichment in parallel; ship the deterministic digest (Phase 1) to a pilot group before adding LLM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475488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D7DEE7"/>
                </a:solidFill>
                <a:latin typeface="Segoe UI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9536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8A8"/>
                </a:solidFill>
                <a:latin typeface="Segoe UI"/>
              </a:rPr>
              <a:t>Six capabilities, delivered in priority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16736"/>
            <a:ext cx="3602736" cy="2139696"/>
          </a:xfrm>
          <a:prstGeom prst="roundRect">
            <a:avLst>
              <a:gd name="adj" fmla="val 6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1499616"/>
            <a:ext cx="310896" cy="310896"/>
          </a:xfrm>
          <a:prstGeom prst="ellipse">
            <a:avLst/>
          </a:prstGeom>
          <a:solidFill>
            <a:srgbClr val="35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1018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499616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7DEE7"/>
                </a:solidFill>
                <a:latin typeface="Segoe UI"/>
              </a:rPr>
              <a:t>Run digest /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975104"/>
            <a:ext cx="3163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35C47C"/>
                </a:solidFill>
                <a:latin typeface="Segoe UI"/>
              </a:rPr>
              <a:t>“Did my run do what I asked, and can I trust the result?”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615184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98A8"/>
                </a:solidFill>
                <a:latin typeface="Segoe UI"/>
              </a:rPr>
              <a:t>KPIs, stage timing, warning roll-ups, missing-input table, IR &amp; power summary.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316736"/>
            <a:ext cx="3602736" cy="2139696"/>
          </a:xfrm>
          <a:prstGeom prst="roundRect">
            <a:avLst>
              <a:gd name="adj" fmla="val 6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9704" y="1499616"/>
            <a:ext cx="310896" cy="310896"/>
          </a:xfrm>
          <a:prstGeom prst="ellipse">
            <a:avLst/>
          </a:prstGeom>
          <a:solidFill>
            <a:srgbClr val="35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1018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499616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7DEE7"/>
                </a:solidFill>
                <a:latin typeface="Segoe UI"/>
              </a:rPr>
              <a:t>Input &amp; setup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75104"/>
            <a:ext cx="3163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35C47C"/>
                </a:solidFill>
                <a:latin typeface="Segoe UI"/>
              </a:rPr>
              <a:t>“What did mPower silently work around?”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615184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98A8"/>
                </a:solidFill>
                <a:latin typeface="Segoe UI"/>
              </a:rPr>
              <a:t>Un-annotated nets, missing SPEF/TWF sections, nets without arrival time, missing PG pins.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316736"/>
            <a:ext cx="3602736" cy="2139696"/>
          </a:xfrm>
          <a:prstGeom prst="roundRect">
            <a:avLst>
              <a:gd name="adj" fmla="val 6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20" y="1499616"/>
            <a:ext cx="310896" cy="310896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1018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5944" y="1499616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7DEE7"/>
                </a:solidFill>
                <a:latin typeface="Segoe UI"/>
              </a:rPr>
              <a:t>Error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975104"/>
            <a:ext cx="3163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4FA3FF"/>
                </a:solidFill>
                <a:latin typeface="Segoe UI"/>
              </a:rPr>
              <a:t>“It failed or looks wrong — why, and what do I change?”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615184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98A8"/>
                </a:solidFill>
                <a:latin typeface="Segoe UI"/>
              </a:rPr>
              <a:t>Clusters errors, maps to the catalog, flags “command ignored” silent fallbacks.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39312"/>
            <a:ext cx="3602736" cy="2139696"/>
          </a:xfrm>
          <a:prstGeom prst="roundRect">
            <a:avLst>
              <a:gd name="adj" fmla="val 6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4088" y="3822192"/>
            <a:ext cx="310896" cy="310896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1018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822192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7DEE7"/>
                </a:solidFill>
                <a:latin typeface="Segoe UI"/>
              </a:rPr>
              <a:t>Performance advisor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297680"/>
            <a:ext cx="3163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4FA3FF"/>
                </a:solidFill>
                <a:latin typeface="Segoe UI"/>
              </a:rPr>
              <a:t>“It took 11 hours. Where did the time go?”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4937760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98A8"/>
                </a:solidFill>
                <a:latin typeface="Segoe UI"/>
              </a:rPr>
              <a:t>Stage attribution, CPU:wall parallel efficiency, slot utilisation, distributed on/off.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8536" y="3639312"/>
            <a:ext cx="3602736" cy="2139696"/>
          </a:xfrm>
          <a:prstGeom prst="roundRect">
            <a:avLst>
              <a:gd name="adj" fmla="val 6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89704" y="3822192"/>
            <a:ext cx="310896" cy="310896"/>
          </a:xfrm>
          <a:prstGeom prst="ellipse">
            <a:avLst/>
          </a:prstGeom>
          <a:solidFill>
            <a:srgbClr val="F2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1018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0328" y="3822192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7DEE7"/>
                </a:solidFill>
                <a:latin typeface="Segoe UI"/>
              </a:rPr>
              <a:t>EM / IR-drop debug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297680"/>
            <a:ext cx="3163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F2B544"/>
                </a:solidFill>
                <a:latin typeface="Segoe UI"/>
              </a:rPr>
              <a:t>“This instance violates. What causes it and what's the fix?”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4937760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98A8"/>
                </a:solidFill>
                <a:latin typeface="Segoe UI"/>
              </a:rPr>
              <a:t>Hotspot clustering, power-density × grid-R × via correlation, decap adequacy, blame attribution.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3639312"/>
            <a:ext cx="3602736" cy="2139696"/>
          </a:xfrm>
          <a:prstGeom prst="roundRect">
            <a:avLst>
              <a:gd name="adj" fmla="val 6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75320" y="3822192"/>
            <a:ext cx="310896" cy="310896"/>
          </a:xfrm>
          <a:prstGeom prst="ellipse">
            <a:avLst/>
          </a:prstGeom>
          <a:solidFill>
            <a:srgbClr val="F2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1018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95944" y="3822192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7DEE7"/>
                </a:solidFill>
                <a:latin typeface="Segoe UI"/>
              </a:rPr>
              <a:t>Setup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4297680"/>
            <a:ext cx="3163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F2B544"/>
                </a:solidFill>
                <a:latin typeface="Segoe UI"/>
              </a:rPr>
              <a:t>“How do I set this flow up correctly in the first place?”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4937760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98A8"/>
                </a:solidFill>
                <a:latin typeface="Segoe UI"/>
              </a:rPr>
              <a:t>Pre-flight flow validation — catch setup errors BEFORE an 11-hour run.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3276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B98A8"/>
                </a:solidFill>
                <a:latin typeface="Segoe UI"/>
              </a:rPr>
              <a:t>Delivered as HTML (dashboard) · Markdown (paste into tickets) · JSON (CI / regression gating)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475488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D7DEE7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9536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8A8"/>
                </a:solidFill>
                <a:latin typeface="Segoe UI"/>
              </a:rPr>
              <a:t>Five layers — each independently useful and independently testable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35024"/>
            <a:ext cx="8366760" cy="667512"/>
          </a:xfrm>
          <a:prstGeom prst="roundRect">
            <a:avLst>
              <a:gd name="adj" fmla="val 12000"/>
            </a:avLst>
          </a:prstGeom>
          <a:solidFill>
            <a:srgbClr val="222A35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389888"/>
            <a:ext cx="566928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98A8"/>
                </a:solidFill>
                <a:latin typeface="Segoe U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435608"/>
            <a:ext cx="7269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7DEE7"/>
                </a:solidFill>
                <a:latin typeface="Segoe UI"/>
              </a:rPr>
              <a:t>Run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719072"/>
            <a:ext cx="7269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8B98A8"/>
                </a:solidFill>
                <a:latin typeface="Segoe UI"/>
              </a:rPr>
              <a:t>mpower.log · error / warning / lib logs · mpower.cmd · run.tcl · *.rpt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86968" y="2011680"/>
            <a:ext cx="146304" cy="100584"/>
          </a:xfrm>
          <a:prstGeom prst="downArrow">
            <a:avLst/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121408"/>
            <a:ext cx="8366760" cy="667512"/>
          </a:xfrm>
          <a:prstGeom prst="roundRect">
            <a:avLst>
              <a:gd name="adj" fmla="val 12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176272"/>
            <a:ext cx="566928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A3FF"/>
                </a:solidFill>
                <a:latin typeface="Segoe UI"/>
              </a:rP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221992"/>
            <a:ext cx="7269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7DEE7"/>
                </a:solidFill>
                <a:latin typeface="Segoe UI"/>
              </a:rPr>
              <a:t>Collectors — discovery &amp;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505456"/>
            <a:ext cx="7269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8B98A8"/>
                </a:solidFill>
                <a:latin typeface="Segoe UI"/>
              </a:rPr>
              <a:t>Emits the Run Manifest: one versioned JSON that everything downstream consumes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86968" y="2798064"/>
            <a:ext cx="146304" cy="100584"/>
          </a:xfrm>
          <a:prstGeom prst="downArrow">
            <a:avLst/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907792"/>
            <a:ext cx="8366760" cy="667512"/>
          </a:xfrm>
          <a:prstGeom prst="roundRect">
            <a:avLst>
              <a:gd name="adj" fmla="val 12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962656"/>
            <a:ext cx="566928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A3FF"/>
                </a:solidFill>
                <a:latin typeface="Segoe UI"/>
              </a:rP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008376"/>
            <a:ext cx="7269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7DEE7"/>
                </a:solidFill>
                <a:latin typeface="Segoe UI"/>
              </a:rPr>
              <a:t>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291840"/>
            <a:ext cx="7269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8B98A8"/>
                </a:solidFill>
                <a:latin typeface="Segoe UI"/>
              </a:rPr>
              <a:t>1,767 mhelp codes · 390 ghelp commands · 826 regression flows · curated playbooks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86968" y="3584448"/>
            <a:ext cx="146304" cy="100584"/>
          </a:xfrm>
          <a:prstGeom prst="downArrow">
            <a:avLst/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694176"/>
            <a:ext cx="8366760" cy="667512"/>
          </a:xfrm>
          <a:prstGeom prst="roundRect">
            <a:avLst>
              <a:gd name="adj" fmla="val 12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749040"/>
            <a:ext cx="566928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A3FF"/>
                </a:solidFill>
                <a:latin typeface="Segoe UI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794760"/>
            <a:ext cx="7269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7DEE7"/>
                </a:solidFill>
                <a:latin typeface="Segoe UI"/>
              </a:rPr>
              <a:t>Analyzers — deterministic rules →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078224"/>
            <a:ext cx="7269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8B98A8"/>
                </a:solidFill>
                <a:latin typeface="Segoe UI"/>
              </a:rPr>
              <a:t>completeness · error triage · warning roll-up · performance · margin · config sanity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6968" y="4370832"/>
            <a:ext cx="146304" cy="100584"/>
          </a:xfrm>
          <a:prstGeom prst="downArrow">
            <a:avLst/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480560"/>
            <a:ext cx="8366760" cy="667512"/>
          </a:xfrm>
          <a:prstGeom prst="roundRect">
            <a:avLst>
              <a:gd name="adj" fmla="val 12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4535424"/>
            <a:ext cx="566928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A3FF"/>
                </a:solidFill>
                <a:latin typeface="Segoe UI"/>
              </a:rPr>
              <a:t>L4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4581144"/>
            <a:ext cx="7269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7DEE7"/>
                </a:solidFill>
                <a:latin typeface="Segoe UI"/>
              </a:rPr>
              <a:t>Reasoning — LLM correlation &amp; narrative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4864608"/>
            <a:ext cx="7269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8B98A8"/>
                </a:solidFill>
                <a:latin typeface="Segoe UI"/>
              </a:rPr>
              <a:t>Cross-domain correlation, impact ranking, prose · + agentic tool-use (Phase 3+)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86968" y="5157216"/>
            <a:ext cx="146304" cy="100584"/>
          </a:xfrm>
          <a:prstGeom prst="downArrow">
            <a:avLst/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5266944"/>
            <a:ext cx="8366760" cy="667512"/>
          </a:xfrm>
          <a:prstGeom prst="roundRect">
            <a:avLst>
              <a:gd name="adj" fmla="val 12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5321808"/>
            <a:ext cx="566928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A3FF"/>
                </a:solidFill>
                <a:latin typeface="Segoe UI"/>
              </a:rPr>
              <a:t>L5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4168" y="5367528"/>
            <a:ext cx="7269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7DEE7"/>
                </a:solidFill>
                <a:latin typeface="Segoe UI"/>
              </a:rPr>
              <a:t>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44168" y="5650992"/>
            <a:ext cx="7269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8B98A8"/>
                </a:solidFill>
                <a:latin typeface="Segoe UI"/>
              </a:rPr>
              <a:t>HTML dashboard · Markdown · JSON · interactive chat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0848" y="1335024"/>
            <a:ext cx="2606040" cy="4745736"/>
          </a:xfrm>
          <a:prstGeom prst="roundRect">
            <a:avLst>
              <a:gd name="adj" fmla="val 5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0304" y="1517904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A3FF"/>
                </a:solidFill>
                <a:latin typeface="Segoe UI"/>
              </a:rPr>
              <a:t>DESIGN PRINCIPLES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4" y="1847088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7DEE7"/>
                </a:solidFill>
                <a:latin typeface="Segoe UI"/>
              </a:rPr>
              <a:t>Deterministic first, LLM second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4" y="2249424"/>
            <a:ext cx="2167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98A8"/>
                </a:solidFill>
                <a:latin typeface="Segoe UI"/>
              </a:rPr>
              <a:t>Every number comes from a parser. The model explains and ranks — never computes.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2907792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7DEE7"/>
                </a:solidFill>
                <a:latin typeface="Segoe UI"/>
              </a:rPr>
              <a:t>Cite everything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3127248"/>
            <a:ext cx="2167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98A8"/>
                </a:solidFill>
                <a:latin typeface="Segoe UI"/>
              </a:rPr>
              <a:t>Every finding links to source file and line — auditable in one click.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0304" y="374904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7DEE7"/>
                </a:solidFill>
                <a:latin typeface="Segoe UI"/>
              </a:rPr>
              <a:t>Degrade gracefully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3968496"/>
            <a:ext cx="2167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98A8"/>
                </a:solidFill>
                <a:latin typeface="Segoe UI"/>
              </a:rPr>
              <a:t>Crashed, partial or un-instrumented runs still produce a useful report.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4590288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7DEE7"/>
                </a:solidFill>
                <a:latin typeface="Segoe UI"/>
              </a:rPr>
              <a:t>Never read the elephant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4809744"/>
            <a:ext cx="2167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98A8"/>
                </a:solidFill>
                <a:latin typeface="Segoe UI"/>
              </a:rPr>
              <a:t>Hard size guards: 772 MB net lists and the 84 GB DB are never loaded.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0304" y="5413248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7DEE7"/>
                </a:solidFill>
                <a:latin typeface="Segoe UI"/>
              </a:rPr>
              <a:t>Offline-capable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5632704"/>
            <a:ext cx="21671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98A8"/>
                </a:solidFill>
                <a:latin typeface="Segoe UI"/>
              </a:rPr>
              <a:t>Works in customer sites with strict data-egress rules.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3276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B98A8"/>
                </a:solidFill>
                <a:latin typeface="Segoe UI"/>
              </a:rPr>
              <a:t>Key decision: the Run Manifest decouples parsing from analysis — the whole system is testable without a single LLM call.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475488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D7DEE7"/>
                </a:solidFill>
                <a:latin typeface="Segoe UI"/>
              </a:rPr>
              <a:t>Phased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9536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8A8"/>
                </a:solidFill>
                <a:latin typeface="Segoe UI"/>
              </a:rPr>
              <a:t>Each phase gated on a concrete, measurable user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408176"/>
            <a:ext cx="32004" cy="3799332"/>
          </a:xfrm>
          <a:prstGeom prst="rect">
            <a:avLst/>
          </a:prstGeom>
          <a:solidFill>
            <a:srgbClr val="2E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3796" y="1472184"/>
            <a:ext cx="297180" cy="297180"/>
          </a:xfrm>
          <a:prstGeom prst="ellipse">
            <a:avLst/>
          </a:prstGeom>
          <a:solidFill>
            <a:srgbClr val="35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1018"/>
                </a:solidFill>
                <a:latin typeface="Segoe UI"/>
              </a:rP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1316736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6192" y="1389888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7DEE7"/>
                </a:solidFill>
                <a:latin typeface="Segoe UI"/>
              </a:rPr>
              <a:t>Phase 0 — Foundations &amp;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655064"/>
            <a:ext cx="8503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8B98A8"/>
                </a:solidFill>
                <a:latin typeface="Segoe UI"/>
              </a:rPr>
              <a:t>20–30 diverse historical runs, Run Manifest schema, normalized catalog, eval harness.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1463040"/>
            <a:ext cx="969264" cy="310896"/>
          </a:xfrm>
          <a:prstGeom prst="roundRect">
            <a:avLst>
              <a:gd name="adj" fmla="val 40000"/>
            </a:avLst>
          </a:prstGeom>
          <a:solidFill>
            <a:srgbClr val="222A35"/>
          </a:solidFill>
          <a:ln w="9525">
            <a:solidFill>
              <a:srgbClr val="35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7C"/>
                </a:solidFill>
                <a:latin typeface="Segoe UI"/>
              </a:rPr>
              <a:t>3 EW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" y="2171700"/>
            <a:ext cx="297180" cy="297180"/>
          </a:xfrm>
          <a:prstGeom prst="ellipse">
            <a:avLst/>
          </a:prstGeom>
          <a:solidFill>
            <a:srgbClr val="35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1018"/>
                </a:solidFill>
                <a:latin typeface="Segoe U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98448" y="2016252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6192" y="2089404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7DEE7"/>
                </a:solidFill>
                <a:latin typeface="Segoe UI"/>
              </a:rPr>
              <a:t>Phase 1 — Deterministic Run Digest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354580"/>
            <a:ext cx="8503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8B98A8"/>
                </a:solidFill>
                <a:latin typeface="Segoe UI"/>
              </a:rPr>
              <a:t>Collectors + analyzers + HTML/MD/JSON. No LLM. Reproduces the reference report for any run.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69880" y="2162556"/>
            <a:ext cx="969264" cy="310896"/>
          </a:xfrm>
          <a:prstGeom prst="roundRect">
            <a:avLst>
              <a:gd name="adj" fmla="val 40000"/>
            </a:avLst>
          </a:prstGeom>
          <a:solidFill>
            <a:srgbClr val="222A35"/>
          </a:solidFill>
          <a:ln w="9525">
            <a:solidFill>
              <a:srgbClr val="35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7C"/>
                </a:solidFill>
                <a:latin typeface="Segoe UI"/>
              </a:rPr>
              <a:t>5–7 EW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" y="2871216"/>
            <a:ext cx="297180" cy="297180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1018"/>
                </a:solidFill>
                <a:latin typeface="Segoe U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8448" y="2715768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6192" y="2788920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7DEE7"/>
                </a:solidFill>
                <a:latin typeface="Segoe UI"/>
              </a:rPr>
              <a:t>Phase 2 — LLM analyst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054096"/>
            <a:ext cx="8503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8B98A8"/>
                </a:solidFill>
                <a:latin typeface="Segoe UI"/>
              </a:rPr>
              <a:t>Narrative, cross-domain correlation, severity ranking, prioritized actions — strictly grounded.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9880" y="2862072"/>
            <a:ext cx="969264" cy="310896"/>
          </a:xfrm>
          <a:prstGeom prst="roundRect">
            <a:avLst>
              <a:gd name="adj" fmla="val 40000"/>
            </a:avLst>
          </a:prstGeom>
          <a:solidFill>
            <a:srgbClr val="222A35"/>
          </a:solidFill>
          <a:ln w="9525">
            <a:solidFill>
              <a:srgbClr val="4F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A3FF"/>
                </a:solidFill>
                <a:latin typeface="Segoe UI"/>
              </a:rPr>
              <a:t>4–6 EW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" y="3570732"/>
            <a:ext cx="297180" cy="297180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1018"/>
                </a:solidFill>
                <a:latin typeface="Segoe U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98448" y="3415284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36192" y="3488436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7DEE7"/>
                </a:solidFill>
                <a:latin typeface="Segoe UI"/>
              </a:rPr>
              <a:t>Phase 3 — Interactive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753612"/>
            <a:ext cx="8503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8B98A8"/>
                </a:solidFill>
                <a:latin typeface="Segoe UI"/>
              </a:rPr>
              <a:t>Conversational follow-up, tool-use over the manifest, multi-run “what changed?” diff.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9880" y="3561588"/>
            <a:ext cx="969264" cy="310896"/>
          </a:xfrm>
          <a:prstGeom prst="roundRect">
            <a:avLst>
              <a:gd name="adj" fmla="val 40000"/>
            </a:avLst>
          </a:prstGeom>
          <a:solidFill>
            <a:srgbClr val="222A35"/>
          </a:solidFill>
          <a:ln w="9525">
            <a:solidFill>
              <a:srgbClr val="4F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A3FF"/>
                </a:solidFill>
                <a:latin typeface="Segoe UI"/>
              </a:rPr>
              <a:t>6–8 EW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" y="4270248"/>
            <a:ext cx="297180" cy="297180"/>
          </a:xfrm>
          <a:prstGeom prst="ellipse">
            <a:avLst/>
          </a:prstGeom>
          <a:solidFill>
            <a:srgbClr val="F2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1018"/>
                </a:solidFill>
                <a:latin typeface="Segoe U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98448" y="4114800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36192" y="4187952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7DEE7"/>
                </a:solidFill>
                <a:latin typeface="Segoe UI"/>
              </a:rPr>
              <a:t>Phase 4 — EM / IR root-cause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4453128"/>
            <a:ext cx="8503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8B98A8"/>
                </a:solidFill>
                <a:latin typeface="Segoe UI"/>
              </a:rPr>
              <a:t>Hotspot clustering, blame attribution, decap adequacy, concrete mitigation proposals.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69880" y="4261104"/>
            <a:ext cx="969264" cy="310896"/>
          </a:xfrm>
          <a:prstGeom prst="roundRect">
            <a:avLst>
              <a:gd name="adj" fmla="val 40000"/>
            </a:avLst>
          </a:prstGeom>
          <a:solidFill>
            <a:srgbClr val="222A35"/>
          </a:solidFill>
          <a:ln w="9525">
            <a:solidFill>
              <a:srgbClr val="F2B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B544"/>
                </a:solidFill>
                <a:latin typeface="Segoe UI"/>
              </a:rPr>
              <a:t>10–14 EW</a:t>
            </a:r>
          </a:p>
        </p:txBody>
      </p:sp>
      <p:sp>
        <p:nvSpPr>
          <p:cNvPr id="32" name="Oval 31"/>
          <p:cNvSpPr/>
          <p:nvPr/>
        </p:nvSpPr>
        <p:spPr>
          <a:xfrm>
            <a:off x="653796" y="4969764"/>
            <a:ext cx="297180" cy="297180"/>
          </a:xfrm>
          <a:prstGeom prst="ellipse">
            <a:avLst/>
          </a:prstGeom>
          <a:solidFill>
            <a:srgbClr val="F2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1018"/>
                </a:solidFill>
                <a:latin typeface="Segoe UI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98448" y="4814316"/>
            <a:ext cx="10378440" cy="603504"/>
          </a:xfrm>
          <a:prstGeom prst="roundRect">
            <a:avLst>
              <a:gd name="adj" fmla="val 140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36192" y="4887468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7DEE7"/>
                </a:solidFill>
                <a:latin typeface="Segoe UI"/>
              </a:rPr>
              <a:t>Phase 5 — Setup assistant &amp;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6192" y="5152644"/>
            <a:ext cx="8503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8B98A8"/>
                </a:solidFill>
                <a:latin typeface="Segoe UI"/>
              </a:rPr>
              <a:t>Pre-flight validation, guided setup, Tcl command / GUI2 panel / CI gating.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69880" y="4960620"/>
            <a:ext cx="969264" cy="310896"/>
          </a:xfrm>
          <a:prstGeom prst="roundRect">
            <a:avLst>
              <a:gd name="adj" fmla="val 40000"/>
            </a:avLst>
          </a:prstGeom>
          <a:solidFill>
            <a:srgbClr val="222A35"/>
          </a:solidFill>
          <a:ln w="9525">
            <a:solidFill>
              <a:srgbClr val="F2B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B544"/>
                </a:solidFill>
                <a:latin typeface="Segoe UI"/>
              </a:rPr>
              <a:t>6–10 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98448" y="5532120"/>
            <a:ext cx="10378440" cy="512064"/>
          </a:xfrm>
          <a:prstGeom prst="roundRect">
            <a:avLst>
              <a:gd name="adj" fmla="val 26000"/>
            </a:avLst>
          </a:prstGeom>
          <a:noFill/>
          <a:ln w="12700">
            <a:solidFill>
              <a:srgbClr val="4F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36192" y="5614416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>
                <a:solidFill>
                  <a:srgbClr val="4FA3FF"/>
                </a:solidFill>
                <a:latin typeface="Segoe UI"/>
              </a:rPr>
              <a:t>Cross-cutting — Knowledge enrichment (4–6 EW, parallel from Phase 0):  </a:t>
            </a:r>
            <a:r>
              <a:rPr sz="1150">
                <a:solidFill>
                  <a:srgbClr val="8B98A8"/>
                </a:solidFill>
                <a:latin typeface="Segoe UI"/>
              </a:rPr>
              <a:t>fill the 976 empty &lt;action&gt; fields and author the top-100 playbooks — staffed by domain experts, not the core dev team.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3276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B98A8"/>
                </a:solidFill>
                <a:latin typeface="Segoe UI"/>
              </a:rPr>
              <a:t>First shippable value: ~8–10 EW (Phases 0+1)   ·   Full vision: ~34–48 EW ≈ 2 engineers × 4–6 months + fractional domain-expert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8580" cy="475488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D7DEE7"/>
                </a:solidFill>
                <a:latin typeface="Segoe UI"/>
              </a:rPr>
              <a:t>Open Decisions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9536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98A8"/>
                </a:solidFill>
                <a:latin typeface="Segoe UI"/>
              </a:rPr>
              <a:t>What we need from stakeholders to 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35024"/>
            <a:ext cx="5486400" cy="4114800"/>
          </a:xfrm>
          <a:prstGeom prst="roundRect">
            <a:avLst>
              <a:gd name="adj" fmla="val 45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361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B544"/>
                </a:solidFill>
                <a:latin typeface="Segoe UI"/>
              </a:rPr>
              <a:t>OPEN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019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5F56"/>
                </a:solidFill>
                <a:latin typeface="Segoe UI"/>
              </a:rPr>
              <a:t>LLM endpoint &amp; data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B98A8"/>
                </a:solidFill>
                <a:latin typeface="Segoe UI"/>
              </a:rPr>
              <a:t>Logs carry design, IP and library names. Which inference backend is approved for customer data?  BLOCKS PHASE 2 — highest priority.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7121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B544"/>
                </a:solidFill>
                <a:latin typeface="Segoe UI"/>
              </a:rPr>
              <a:t>Delivery form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1810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B98A8"/>
                </a:solidFill>
                <a:latin typeface="Segoe UI"/>
              </a:rPr>
              <a:t>Standalone CLI assumed for Phase 1 (no build dependency, works on historical runs). Confirm, or pull Tcl / GUI integration earlier.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40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B98A8"/>
                </a:solidFill>
                <a:latin typeface="Segoe UI"/>
              </a:rPr>
              <a:t>Target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87368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B98A8"/>
                </a:solidFill>
                <a:latin typeface="Segoe UI"/>
              </a:rPr>
              <a:t>Internal AEs first, or external customers? Changes the bar for polish and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80974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B98A8"/>
                </a:solidFill>
                <a:latin typeface="Segoe UI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056632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8B98A8"/>
                </a:solidFill>
                <a:latin typeface="Segoe UI"/>
              </a:rPr>
              <a:t>Spans all six teams in maintainers.yml. Who owns it? And does it extend the existing fuse/ AI integration?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335024"/>
            <a:ext cx="5486400" cy="4114800"/>
          </a:xfrm>
          <a:prstGeom prst="roundRect">
            <a:avLst>
              <a:gd name="adj" fmla="val 4500"/>
            </a:avLst>
          </a:prstGeom>
          <a:solidFill>
            <a:srgbClr val="1A2029"/>
          </a:solidFill>
          <a:ln w="12700">
            <a:solidFill>
              <a:srgbClr val="2E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361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C47C"/>
                </a:solidFill>
                <a:latin typeface="Segoe UI"/>
              </a:rPr>
              <a:t>FIRST TWO WEEKS</a:t>
            </a:r>
          </a:p>
        </p:txBody>
      </p:sp>
      <p:sp>
        <p:nvSpPr>
          <p:cNvPr id="18" name="Oval 17"/>
          <p:cNvSpPr/>
          <p:nvPr/>
        </p:nvSpPr>
        <p:spPr>
          <a:xfrm>
            <a:off x="6446520" y="1938528"/>
            <a:ext cx="274320" cy="274320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1018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956816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DEE7"/>
                </a:solidFill>
                <a:latin typeface="Segoe UI"/>
              </a:rPr>
              <a:t>Resolve the LLM data-policy question (§ blocks Phase 2).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2688336"/>
            <a:ext cx="274320" cy="274320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1018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706624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DEE7"/>
                </a:solidFill>
                <a:latin typeface="Segoe UI"/>
              </a:rPr>
              <a:t>Collect 20–30 historical run directories into a labeled corpus.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3438144"/>
            <a:ext cx="274320" cy="274320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1018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56432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DEE7"/>
                </a:solidFill>
                <a:latin typeface="Segoe UI"/>
              </a:rPr>
              <a:t>Draft and widely review the Run Manifest schema — the key design artifact.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4187952"/>
            <a:ext cx="274320" cy="274320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1018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06240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DEE7"/>
                </a:solidFill>
                <a:latin typeface="Segoe UI"/>
              </a:rPr>
              <a:t>Normalize mhelp &lt;type&gt;; rank message codes by real-world frequency.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4937760"/>
            <a:ext cx="274320" cy="274320"/>
          </a:xfrm>
          <a:prstGeom prst="ellipse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1018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956048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DEE7"/>
                </a:solidFill>
                <a:latin typeface="Segoe UI"/>
              </a:rPr>
              <a:t>Name per-team domain-expert owners for playbooks and evaluation.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276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B98A8"/>
                </a:solidFill>
                <a:latin typeface="Segoe UI"/>
              </a:rPr>
              <a:t>Recommended sequencing: Phase 0 + knowledge enrichment in parallel → pilot Phase 1 with AEs → add Phase 2 → let pilot feedback order Phase 4 vs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